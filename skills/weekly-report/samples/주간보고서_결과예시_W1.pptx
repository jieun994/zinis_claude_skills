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3" r:id="rId2"/>
    <p:sldId id="257" r:id="rId3"/>
    <p:sldId id="264" r:id="rId4"/>
    <p:sldId id="268" r:id="rId5"/>
    <p:sldId id="266" r:id="rId6"/>
    <p:sldId id="267" r:id="rId7"/>
    <p:sldId id="270" r:id="rId8"/>
    <p:sldId id="269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6E2"/>
    <a:srgbClr val="E6B9B8"/>
    <a:srgbClr val="C6D9F1"/>
    <a:srgbClr val="FCD5B5"/>
    <a:srgbClr val="FFFFFF"/>
    <a:srgbClr val="6C71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771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33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3DFAE0-CD80-4245-B1CD-9B4B0BC56BC3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E16DED-2A9E-4433-A47E-2ED99CD351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1084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9" name="Google Shape;9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/>
            <a:endParaRPr dirty="0">
              <a:latin typeface="맑은 고딕" panose="020B0600000101010101" pitchFamily="34" charset="-127"/>
              <a:ea typeface="맑은 고딕" panose="020B0600000101010101" pitchFamily="34" charset="-127"/>
            </a:endParaRPr>
          </a:p>
        </p:txBody>
      </p:sp>
      <p:sp>
        <p:nvSpPr>
          <p:cNvPr id="100" name="Google Shape;10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맑은 고딕" panose="020B0600000101010101" pitchFamily="34" charset="-127"/>
                <a:ea typeface="맑은 고딕" panose="020B0600000101010101" pitchFamily="34" charset="-127"/>
              </a:rPr>
              <a:t>1</a:t>
            </a:fld>
            <a:endParaRPr dirty="0">
              <a:latin typeface="맑은 고딕" panose="020B0600000101010101" pitchFamily="34" charset="-127"/>
              <a:ea typeface="맑은 고딕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600000101010101" pitchFamily="34" charset="-127"/>
              <a:ea typeface="맑은 고딕" panose="020B0600000101010101" pitchFamily="34" charset="-127"/>
            </a:endParaRPr>
          </a:p>
        </p:txBody>
      </p:sp>
      <p:sp>
        <p:nvSpPr>
          <p:cNvPr id="341" name="Google Shape;34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3257-400D-4273-BE72-1C597FF5874C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2091-6EB6-4826-85BB-B886D1DE2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9955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Google Shape;17;p15">
            <a:extLst>
              <a:ext uri="{FF2B5EF4-FFF2-40B4-BE49-F238E27FC236}">
                <a16:creationId xmlns:a16="http://schemas.microsoft.com/office/drawing/2014/main" id="{10C0FE5F-B562-5EEB-7E02-59FA0F5E9AB3}"/>
              </a:ext>
            </a:extLst>
          </p:cNvPr>
          <p:cNvCxnSpPr>
            <a:cxnSpLocks/>
          </p:cNvCxnSpPr>
          <p:nvPr userDrawn="1"/>
        </p:nvCxnSpPr>
        <p:spPr>
          <a:xfrm>
            <a:off x="700391" y="563979"/>
            <a:ext cx="11528204" cy="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1" name="Google Shape;21;p15">
            <a:extLst>
              <a:ext uri="{FF2B5EF4-FFF2-40B4-BE49-F238E27FC236}">
                <a16:creationId xmlns:a16="http://schemas.microsoft.com/office/drawing/2014/main" id="{3C44CC50-726E-2D4F-893B-BD4AFB7BD5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2839" y="340763"/>
            <a:ext cx="2610325" cy="3282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5850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300"/>
              <a:buNone/>
              <a:defRPr sz="1300" b="1">
                <a:solidFill>
                  <a:srgbClr val="3F3F3F"/>
                </a:solidFill>
                <a:latin typeface="맑은 고딕" panose="020B0600000101010101" pitchFamily="34" charset="-127"/>
                <a:ea typeface="맑은 고딕" panose="020B0600000101010101" pitchFamily="34" charset="-127"/>
                <a:cs typeface="맑은 고딕" panose="020B0600000101010101" pitchFamily="34" charset="-127"/>
                <a:sym typeface="Malgu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8" name="Google Shape;18;p15">
            <a:extLst>
              <a:ext uri="{FF2B5EF4-FFF2-40B4-BE49-F238E27FC236}">
                <a16:creationId xmlns:a16="http://schemas.microsoft.com/office/drawing/2014/main" id="{E1D9A1F3-98C1-212B-B2BD-7E203A16E8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839" y="251774"/>
            <a:ext cx="1464603" cy="112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13"/>
              <a:buFont typeface="Malgun Gothic"/>
              <a:buNone/>
              <a:defRPr sz="813">
                <a:solidFill>
                  <a:srgbClr val="262626"/>
                </a:solidFill>
                <a:latin typeface="맑은 고딕" panose="020B0600000101010101" pitchFamily="34" charset="-127"/>
                <a:ea typeface="맑은 고딕" panose="020B0600000101010101" pitchFamily="34" charset="-127"/>
                <a:cs typeface="맑은 고딕" panose="020B0600000101010101" pitchFamily="34" charset="-127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" name="Google Shape;19;p15">
            <a:extLst>
              <a:ext uri="{FF2B5EF4-FFF2-40B4-BE49-F238E27FC236}">
                <a16:creationId xmlns:a16="http://schemas.microsoft.com/office/drawing/2014/main" id="{19A8BBF3-9509-EF95-D77C-1B2E4573BA62}"/>
              </a:ext>
            </a:extLst>
          </p:cNvPr>
          <p:cNvSpPr txBox="1"/>
          <p:nvPr userDrawn="1"/>
        </p:nvSpPr>
        <p:spPr>
          <a:xfrm>
            <a:off x="6177804" y="6530629"/>
            <a:ext cx="354554" cy="25387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050" b="0">
                <a:solidFill>
                  <a:srgbClr val="3F3F3F"/>
                </a:solidFill>
                <a:latin typeface="맑은 고딕" panose="020B0600000101010101" pitchFamily="34" charset="-127"/>
                <a:ea typeface="맑은 고딕" panose="020B0600000101010101" pitchFamily="34" charset="-127"/>
                <a:cs typeface="Calibri"/>
                <a:sym typeface="Calibri"/>
              </a:rPr>
              <a:t>‹#›</a:t>
            </a:fld>
            <a:endParaRPr sz="1050" b="0" dirty="0">
              <a:solidFill>
                <a:srgbClr val="3F3F3F"/>
              </a:solidFill>
              <a:latin typeface="맑은 고딕" panose="020B0600000101010101" pitchFamily="34" charset="-127"/>
              <a:ea typeface="맑은 고딕" panose="020B0600000101010101" pitchFamily="34" charset="-127"/>
              <a:cs typeface="Calibri"/>
              <a:sym typeface="Calibri"/>
            </a:endParaRPr>
          </a:p>
        </p:txBody>
      </p:sp>
      <p:cxnSp>
        <p:nvCxnSpPr>
          <p:cNvPr id="10" name="Google Shape;20;p15">
            <a:extLst>
              <a:ext uri="{FF2B5EF4-FFF2-40B4-BE49-F238E27FC236}">
                <a16:creationId xmlns:a16="http://schemas.microsoft.com/office/drawing/2014/main" id="{4D2EFD6B-A41F-FA8D-427B-ADF3D9701406}"/>
              </a:ext>
            </a:extLst>
          </p:cNvPr>
          <p:cNvCxnSpPr>
            <a:cxnSpLocks/>
          </p:cNvCxnSpPr>
          <p:nvPr userDrawn="1"/>
        </p:nvCxnSpPr>
        <p:spPr>
          <a:xfrm>
            <a:off x="0" y="6483194"/>
            <a:ext cx="12191999" cy="0"/>
          </a:xfrm>
          <a:prstGeom prst="straightConnector1">
            <a:avLst/>
          </a:prstGeom>
          <a:noFill/>
          <a:ln w="9525" cap="flat" cmpd="sng">
            <a:solidFill>
              <a:srgbClr val="CED9E6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3" name="Google Shape;23;p15" descr="폰트, 그래픽, 로고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E4AD5B3-3DF6-1BD0-E4C1-EE4FEBEB5A7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1203174" y="6564536"/>
            <a:ext cx="905006" cy="226252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24;p15">
            <a:extLst>
              <a:ext uri="{FF2B5EF4-FFF2-40B4-BE49-F238E27FC236}">
                <a16:creationId xmlns:a16="http://schemas.microsoft.com/office/drawing/2014/main" id="{01AF8339-9069-0F01-108C-34E1F417C2F6}"/>
              </a:ext>
            </a:extLst>
          </p:cNvPr>
          <p:cNvSpPr/>
          <p:nvPr userDrawn="1"/>
        </p:nvSpPr>
        <p:spPr>
          <a:xfrm>
            <a:off x="0" y="1672413"/>
            <a:ext cx="12192000" cy="4807107"/>
          </a:xfrm>
          <a:prstGeom prst="rect">
            <a:avLst/>
          </a:prstGeom>
          <a:solidFill>
            <a:srgbClr val="F9FAF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맑은 고딕" panose="020B0600000101010101" pitchFamily="34" charset="-127"/>
              <a:ea typeface="맑은 고딕" panose="020B0600000101010101" pitchFamily="34" charset="-127"/>
              <a:cs typeface="Calibri"/>
              <a:sym typeface="Calibri"/>
            </a:endParaRPr>
          </a:p>
        </p:txBody>
      </p:sp>
      <p:pic>
        <p:nvPicPr>
          <p:cNvPr id="15" name="Google Shape;25;p15" descr="preencoded.png">
            <a:extLst>
              <a:ext uri="{FF2B5EF4-FFF2-40B4-BE49-F238E27FC236}">
                <a16:creationId xmlns:a16="http://schemas.microsoft.com/office/drawing/2014/main" id="{E599A911-3BF4-E647-9E5D-CE9B6432AC51}"/>
              </a:ext>
            </a:extLst>
          </p:cNvPr>
          <p:cNvPicPr preferRelativeResize="0"/>
          <p:nvPr userDrawn="1"/>
        </p:nvPicPr>
        <p:blipFill rotWithShape="1">
          <a:blip r:embed="rId3">
            <a:alphaModFix amt="30000"/>
          </a:blip>
          <a:srcRect/>
          <a:stretch/>
        </p:blipFill>
        <p:spPr>
          <a:xfrm>
            <a:off x="8450580" y="908343"/>
            <a:ext cx="365760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26;p15">
            <a:extLst>
              <a:ext uri="{FF2B5EF4-FFF2-40B4-BE49-F238E27FC236}">
                <a16:creationId xmlns:a16="http://schemas.microsoft.com/office/drawing/2014/main" id="{6A6540BC-85CA-D290-B62B-7FBE8C8B7BBA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184736" y="6575096"/>
            <a:ext cx="632774" cy="220969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27;p15">
            <a:extLst>
              <a:ext uri="{FF2B5EF4-FFF2-40B4-BE49-F238E27FC236}">
                <a16:creationId xmlns:a16="http://schemas.microsoft.com/office/drawing/2014/main" id="{7C9EA79C-E774-819C-0B91-19D40D4E42AD}"/>
              </a:ext>
            </a:extLst>
          </p:cNvPr>
          <p:cNvSpPr/>
          <p:nvPr userDrawn="1"/>
        </p:nvSpPr>
        <p:spPr>
          <a:xfrm>
            <a:off x="1" y="-6168"/>
            <a:ext cx="12192000" cy="79659"/>
          </a:xfrm>
          <a:prstGeom prst="rect">
            <a:avLst/>
          </a:prstGeom>
          <a:solidFill>
            <a:srgbClr val="7BB6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3" dirty="0">
              <a:solidFill>
                <a:schemeClr val="dk1"/>
              </a:solidFill>
              <a:latin typeface="맑은 고딕" panose="020B0600000101010101" pitchFamily="34" charset="-127"/>
              <a:ea typeface="맑은 고딕" panose="020B0600000101010101" pitchFamily="34" charset="-127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30459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3257-400D-4273-BE72-1C597FF5874C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2091-6EB6-4826-85BB-B886D1DE2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012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3257-400D-4273-BE72-1C597FF5874C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2091-6EB6-4826-85BB-B886D1DE2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6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3257-400D-4273-BE72-1C597FF5874C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2091-6EB6-4826-85BB-B886D1DE2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996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3257-400D-4273-BE72-1C597FF5874C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2091-6EB6-4826-85BB-B886D1DE2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9193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3257-400D-4273-BE72-1C597FF5874C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2091-6EB6-4826-85BB-B886D1DE2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011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3257-400D-4273-BE72-1C597FF5874C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2091-6EB6-4826-85BB-B886D1DE2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2593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3257-400D-4273-BE72-1C597FF5874C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2091-6EB6-4826-85BB-B886D1DE2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1944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3257-400D-4273-BE72-1C597FF5874C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2091-6EB6-4826-85BB-B886D1DE2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5988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3257-400D-4273-BE72-1C597FF5874C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2091-6EB6-4826-85BB-B886D1DE2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53942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11885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600000101010101" pitchFamily="34" charset="-127"/>
                <a:ea typeface="맑은 고딕" panose="020B0600000101010101" pitchFamily="34" charset="-127"/>
              </a:defRPr>
            </a:lvl1pPr>
          </a:lstStyle>
          <a:p>
            <a:fld id="{56E13257-400D-4273-BE72-1C597FF5874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600000101010101" pitchFamily="34" charset="-127"/>
                <a:ea typeface="맑은 고딕" panose="020B0600000101010101" pitchFamily="34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600000101010101" pitchFamily="34" charset="-127"/>
                <a:ea typeface="맑은 고딕" panose="020B0600000101010101" pitchFamily="34" charset="-127"/>
              </a:defRPr>
            </a:lvl1pPr>
          </a:lstStyle>
          <a:p>
            <a:fld id="{9C3A2091-6EB6-4826-85BB-B886D1DE236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7140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맑은 고딕" panose="020B0600000101010101" pitchFamily="34" charset="-127"/>
          <a:ea typeface="맑은 고딕" panose="020B0600000101010101" pitchFamily="34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맑은 고딕" panose="020B0600000101010101" pitchFamily="34" charset="-127"/>
          <a:ea typeface="맑은 고딕" panose="020B0600000101010101" pitchFamily="34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맑은 고딕" panose="020B0600000101010101" pitchFamily="34" charset="-127"/>
          <a:ea typeface="맑은 고딕" panose="020B0600000101010101" pitchFamily="34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anose="020B0600000101010101" pitchFamily="34" charset="-127"/>
          <a:ea typeface="맑은 고딕" panose="020B0600000101010101" pitchFamily="34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600000101010101" pitchFamily="34" charset="-127"/>
          <a:ea typeface="맑은 고딕" panose="020B0600000101010101" pitchFamily="34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600000101010101" pitchFamily="34" charset="-127"/>
          <a:ea typeface="맑은 고딕" panose="020B0600000101010101" pitchFamily="34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/>
          <p:nvPr/>
        </p:nvSpPr>
        <p:spPr>
          <a:xfrm>
            <a:off x="1143001" y="642939"/>
            <a:ext cx="9905752" cy="5572125"/>
          </a:xfrm>
          <a:prstGeom prst="rect">
            <a:avLst/>
          </a:prstGeom>
          <a:solidFill>
            <a:srgbClr val="F3F4F6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463" dirty="0">
              <a:solidFill>
                <a:schemeClr val="dk1"/>
              </a:solidFill>
              <a:latin typeface="맑은 고딕" panose="020B0600000101010101" pitchFamily="34" charset="-127"/>
              <a:ea typeface="맑은 고딕" panose="020B0600000101010101" pitchFamily="34" charset="-127"/>
              <a:cs typeface="Calibri"/>
              <a:sym typeface="Calibri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26" y="0"/>
            <a:ext cx="12191973" cy="6858157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463" dirty="0">
              <a:solidFill>
                <a:schemeClr val="dk1"/>
              </a:solidFill>
              <a:latin typeface="맑은 고딕" panose="020B0600000101010101" pitchFamily="34" charset="-127"/>
              <a:ea typeface="맑은 고딕" panose="020B0600000101010101" pitchFamily="34" charset="-127"/>
              <a:cs typeface="Calibri"/>
              <a:sym typeface="Calibri"/>
            </a:endParaRPr>
          </a:p>
        </p:txBody>
      </p:sp>
      <p:pic>
        <p:nvPicPr>
          <p:cNvPr id="104" name="Google Shape;104;p1" descr="preencoded.png"/>
          <p:cNvPicPr preferRelativeResize="0"/>
          <p:nvPr/>
        </p:nvPicPr>
        <p:blipFill rotWithShape="1">
          <a:blip r:embed="rId3">
            <a:alphaModFix amt="15000"/>
          </a:blip>
          <a:srcRect/>
          <a:stretch/>
        </p:blipFill>
        <p:spPr>
          <a:xfrm>
            <a:off x="106680" y="1288773"/>
            <a:ext cx="2971800" cy="2971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F3422DA5-DBD2-0DDE-2C26-55AC7ACB9CA1}"/>
              </a:ext>
            </a:extLst>
          </p:cNvPr>
          <p:cNvGrpSpPr/>
          <p:nvPr/>
        </p:nvGrpSpPr>
        <p:grpSpPr>
          <a:xfrm>
            <a:off x="0" y="1"/>
            <a:ext cx="12192000" cy="124073"/>
            <a:chOff x="1143248" y="1"/>
            <a:chExt cx="9905752" cy="124073"/>
          </a:xfrm>
        </p:grpSpPr>
        <p:sp>
          <p:nvSpPr>
            <p:cNvPr id="105" name="Google Shape;105;p1"/>
            <p:cNvSpPr/>
            <p:nvPr/>
          </p:nvSpPr>
          <p:spPr>
            <a:xfrm>
              <a:off x="1143248" y="1"/>
              <a:ext cx="9905752" cy="124073"/>
            </a:xfrm>
            <a:prstGeom prst="rect">
              <a:avLst/>
            </a:prstGeom>
            <a:solidFill>
              <a:srgbClr val="7BB600"/>
            </a:solidFill>
            <a:ln w="12700" cap="flat" cmpd="sng">
              <a:solidFill>
                <a:srgbClr val="FFFFFF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endParaRPr sz="1463" dirty="0">
                <a:solidFill>
                  <a:schemeClr val="dk1"/>
                </a:solidFill>
                <a:latin typeface="맑은 고딕" panose="020B0600000101010101" pitchFamily="34" charset="-127"/>
                <a:ea typeface="맑은 고딕" panose="020B0600000101010101" pitchFamily="34" charset="-127"/>
                <a:cs typeface="Calibri"/>
                <a:sym typeface="Calibri"/>
              </a:endParaRPr>
            </a:p>
          </p:txBody>
        </p:sp>
        <p:sp>
          <p:nvSpPr>
            <p:cNvPr id="106" name="Google Shape;106;p1"/>
            <p:cNvSpPr/>
            <p:nvPr/>
          </p:nvSpPr>
          <p:spPr>
            <a:xfrm>
              <a:off x="1143249" y="1"/>
              <a:ext cx="3304641" cy="124073"/>
            </a:xfrm>
            <a:prstGeom prst="rect">
              <a:avLst/>
            </a:prstGeom>
            <a:solidFill>
              <a:srgbClr val="005F26"/>
            </a:solidFill>
            <a:ln w="12700" cap="flat" cmpd="sng">
              <a:solidFill>
                <a:srgbClr val="FFFFFF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endParaRPr sz="1463" dirty="0">
                <a:solidFill>
                  <a:schemeClr val="dk1"/>
                </a:solidFill>
                <a:latin typeface="맑은 고딕" panose="020B0600000101010101" pitchFamily="34" charset="-127"/>
                <a:ea typeface="맑은 고딕" panose="020B0600000101010101" pitchFamily="34" charset="-127"/>
                <a:cs typeface="Calibri"/>
                <a:sym typeface="Calibri"/>
              </a:endParaRPr>
            </a:p>
          </p:txBody>
        </p:sp>
        <p:sp>
          <p:nvSpPr>
            <p:cNvPr id="107" name="Google Shape;107;p1"/>
            <p:cNvSpPr/>
            <p:nvPr/>
          </p:nvSpPr>
          <p:spPr>
            <a:xfrm>
              <a:off x="10677525" y="1"/>
              <a:ext cx="371475" cy="124073"/>
            </a:xfrm>
            <a:prstGeom prst="rect">
              <a:avLst/>
            </a:prstGeom>
            <a:solidFill>
              <a:srgbClr val="FBBF24"/>
            </a:solidFill>
            <a:ln w="12700" cap="flat" cmpd="sng">
              <a:solidFill>
                <a:srgbClr val="FFFFFF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endParaRPr sz="1463" dirty="0">
                <a:solidFill>
                  <a:schemeClr val="dk1"/>
                </a:solidFill>
                <a:latin typeface="맑은 고딕" panose="020B0600000101010101" pitchFamily="34" charset="-127"/>
                <a:ea typeface="맑은 고딕" panose="020B0600000101010101" pitchFamily="34" charset="-127"/>
                <a:cs typeface="Calibri"/>
                <a:sym typeface="Calibri"/>
              </a:endParaRPr>
            </a:p>
          </p:txBody>
        </p:sp>
      </p:grpSp>
      <p:sp>
        <p:nvSpPr>
          <p:cNvPr id="108" name="Google Shape;108;p1"/>
          <p:cNvSpPr/>
          <p:nvPr/>
        </p:nvSpPr>
        <p:spPr>
          <a:xfrm>
            <a:off x="849631" y="2434402"/>
            <a:ext cx="61665" cy="2213248"/>
          </a:xfrm>
          <a:prstGeom prst="rect">
            <a:avLst/>
          </a:prstGeom>
          <a:solidFill>
            <a:srgbClr val="E5E7EB"/>
          </a:solidFill>
          <a:ln w="12700" cap="flat" cmpd="sng">
            <a:solidFill>
              <a:srgbClr val="E5E7EB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463" dirty="0">
              <a:solidFill>
                <a:schemeClr val="dk1"/>
              </a:solidFill>
              <a:latin typeface="맑은 고딕" panose="020B0600000101010101" pitchFamily="34" charset="-127"/>
              <a:ea typeface="맑은 고딕" panose="020B0600000101010101" pitchFamily="34" charset="-127"/>
              <a:cs typeface="Calibri"/>
              <a:sym typeface="Calibri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1221105" y="2605012"/>
            <a:ext cx="8188052" cy="1161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ko-KR" altLang="en-US" sz="4000" dirty="0">
                <a:solidFill>
                  <a:srgbClr val="1F2937"/>
                </a:solidFill>
                <a:latin typeface="맑은 고딕" panose="020B0600000101010101" pitchFamily="34" charset="-127"/>
                <a:ea typeface="맑은 고딕" panose="020B0600000101010101" pitchFamily="34" charset="-127"/>
                <a:sym typeface="Arial"/>
              </a:rPr>
              <a:t>〇〇 앱</a:t>
            </a:r>
            <a:endParaRPr sz="4000" dirty="0">
              <a:solidFill>
                <a:schemeClr val="dk1"/>
              </a:solidFill>
              <a:latin typeface="맑은 고딕" panose="020B0600000101010101" pitchFamily="34" charset="-127"/>
              <a:ea typeface="맑은 고딕" panose="020B0600000101010101" pitchFamily="34" charset="-127"/>
              <a:sym typeface="Arial"/>
            </a:endParaRPr>
          </a:p>
          <a:p>
            <a:r>
              <a:rPr lang="en-US" altLang="ko-KR" sz="4000" dirty="0">
                <a:solidFill>
                  <a:srgbClr val="7BB600"/>
                </a:solidFill>
                <a:latin typeface="맑은 고딕" panose="020B0600000101010101" pitchFamily="34" charset="-127"/>
                <a:ea typeface="맑은 고딕" panose="020B0600000101010101" pitchFamily="34" charset="-127"/>
                <a:sym typeface="Arial"/>
              </a:rPr>
              <a:t>〇〇 프로젝트</a:t>
            </a:r>
            <a:endParaRPr lang="en-US" altLang="ko-KR" sz="4000" dirty="0">
              <a:solidFill>
                <a:srgbClr val="1F2937"/>
              </a:solidFill>
              <a:latin typeface="맑은 고딕" panose="020B0600000101010101" pitchFamily="34" charset="-127"/>
              <a:ea typeface="맑은 고딕" panose="020B0600000101010101" pitchFamily="34" charset="-127"/>
              <a:sym typeface="Arial"/>
            </a:endParaRPr>
          </a:p>
          <a:p>
            <a:r>
              <a:rPr lang="ko-KR" altLang="en-US" sz="2000" dirty="0">
                <a:solidFill>
                  <a:srgbClr val="1F2937"/>
                </a:solidFill>
                <a:latin typeface="맑은 고딕" panose="020B0600000101010101" pitchFamily="34" charset="-127"/>
                <a:ea typeface="맑은 고딕" panose="020B0600000101010101" pitchFamily="34" charset="-127"/>
                <a:sym typeface="Arial"/>
              </a:rPr>
              <a:t>주간업무 보고서 (W1) – 7월 2주차</a:t>
            </a:r>
            <a:endParaRPr sz="2000" dirty="0">
              <a:solidFill>
                <a:schemeClr val="dk1"/>
              </a:solidFill>
              <a:latin typeface="맑은 고딕" panose="020B0600000101010101" pitchFamily="34" charset="-127"/>
              <a:ea typeface="맑은 고딕" panose="020B0600000101010101" pitchFamily="34" charset="-127"/>
              <a:sym typeface="Arial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1221106" y="4433144"/>
            <a:ext cx="617391" cy="155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altLang="ko-KR" sz="813" dirty="0">
                <a:solidFill>
                  <a:srgbClr val="9CA3AF"/>
                </a:solidFill>
                <a:latin typeface="맑은 고딕" panose="020B0600000101010101" pitchFamily="34" charset="-127"/>
                <a:ea typeface="맑은 고딕" panose="020B0600000101010101" pitchFamily="34" charset="-127"/>
                <a:sym typeface="Arial"/>
              </a:rPr>
              <a:t>2026.07.10</a:t>
            </a:r>
            <a:endParaRPr sz="813" dirty="0">
              <a:solidFill>
                <a:schemeClr val="dk1"/>
              </a:solidFill>
              <a:latin typeface="맑은 고딕" panose="020B0600000101010101" pitchFamily="34" charset="-127"/>
              <a:ea typeface="맑은 고딕" panose="020B0600000101010101" pitchFamily="34" charset="-127"/>
              <a:sym typeface="Arial"/>
            </a:endParaRPr>
          </a:p>
        </p:txBody>
      </p:sp>
      <p:pic>
        <p:nvPicPr>
          <p:cNvPr id="112" name="Google Shape;112;p1" descr="폰트, 그래픽, 로고, 스크린샷이(가) 표시된 사진&#10;&#10;AI 생성 콘텐츠는 정확하지 않을 수 있습니다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58388" y="6477607"/>
            <a:ext cx="905006" cy="226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3694" y="273022"/>
            <a:ext cx="632774" cy="220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Google Shape;89;p1">
            <a:extLst>
              <a:ext uri="{FF2B5EF4-FFF2-40B4-BE49-F238E27FC236}">
                <a16:creationId xmlns:a16="http://schemas.microsoft.com/office/drawing/2014/main" id="{877A21F4-8ED6-7C9D-88D4-1D74828B09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5354823"/>
              </p:ext>
            </p:extLst>
          </p:nvPr>
        </p:nvGraphicFramePr>
        <p:xfrm>
          <a:off x="3275183" y="1057224"/>
          <a:ext cx="7970591" cy="514723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32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5677">
                  <a:extLst>
                    <a:ext uri="{9D8B030D-6E8A-4147-A177-3AD203B41FA5}">
                      <a16:colId xmlns:a16="http://schemas.microsoft.com/office/drawing/2014/main" val="2551336574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278539239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723419656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076398718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026283517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369136148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078405014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355345503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391007164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715516417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673191147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84973600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1330025981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4254338617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758030196"/>
                    </a:ext>
                  </a:extLst>
                </a:gridCol>
              </a:tblGrid>
              <a:tr h="3585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sz="9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단계</a:t>
                      </a: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sz="900" b="1" i="0" u="none" strike="noStrike" cap="none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Task</a:t>
                      </a: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900" b="1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6</a:t>
                      </a:r>
                      <a:r>
                        <a:rPr lang="ko-KR" altLang="en-US" sz="900" b="1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</a:t>
                      </a: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en-US" altLang="ko-KR" sz="9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7</a:t>
                      </a:r>
                      <a:r>
                        <a:rPr lang="ko-KR" altLang="en-US" sz="9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</a:t>
                      </a: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endParaRPr lang="ko-KR" altLang="en-US" sz="9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endParaRPr lang="ko-KR" altLang="en-US" sz="9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endParaRPr lang="ko-KR" altLang="en-US" sz="9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endParaRPr lang="ko-KR" altLang="en-US" sz="9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en-US" altLang="ko-KR" sz="9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8</a:t>
                      </a:r>
                      <a:r>
                        <a:rPr lang="ko-KR" altLang="en-US" sz="9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</a:t>
                      </a: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endParaRPr lang="ko-KR" altLang="en-US" sz="9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endParaRPr lang="ko-KR" altLang="en-US" sz="9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endParaRPr lang="ko-KR" altLang="en-US" sz="9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en-US" altLang="ko-KR" sz="900" b="1" i="0" u="none" strike="noStrike" cap="none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9</a:t>
                      </a:r>
                      <a:r>
                        <a:rPr lang="ko-KR" altLang="en-US" sz="900" b="1" i="0" u="none" strike="noStrike" cap="none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</a:t>
                      </a: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en-US" altLang="ko-KR" sz="9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10</a:t>
                      </a:r>
                      <a:r>
                        <a:rPr lang="ko-KR" altLang="en-US" sz="9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</a:t>
                      </a: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000" marR="36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00"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주요 마일스톤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6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endParaRPr lang="en-US" altLang="ko-KR"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3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  <a:endParaRPr lang="en-US" altLang="ko-KR"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6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</a:t>
                      </a:r>
                      <a:endParaRPr lang="en-US" altLang="ko-KR"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4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  <a:endParaRPr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7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endParaRPr lang="en-US" altLang="ko-KR"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  <a:endParaRPr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7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7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3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7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4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7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5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8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</a:t>
                      </a:r>
                      <a:endParaRPr lang="en-US" altLang="ko-KR"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  <a:endParaRPr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8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8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3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8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4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9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</a:t>
                      </a:r>
                      <a:endParaRPr lang="en-US" altLang="ko-KR"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  <a:endParaRPr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9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9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3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9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4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10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</a:t>
                      </a:r>
                      <a:endParaRPr lang="en-US" altLang="ko-KR"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  <a:endParaRPr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10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10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3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462952"/>
                  </a:ext>
                </a:extLst>
              </a:tr>
              <a:tr h="280725">
                <a:tc gridSpan="2"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700" b="0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2W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3W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4W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5W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6W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7W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8W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9W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10W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11W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12W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13W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14W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15W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16W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17W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18W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1493958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기획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요구사항 분석 및 확정</a:t>
                      </a:r>
                      <a:endParaRPr lang="en-US" altLang="ko-KR"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821511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noProof="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기획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답변 유형별 모듈 설계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9225836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noProof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기획</a:t>
                      </a:r>
                      <a:endParaRPr lang="ko-KR" altLang="en-US" sz="900" b="0" i="0" u="none" strike="noStrike" cap="none" noProof="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화면 및 기타 설계</a:t>
                      </a:r>
                      <a:endParaRPr lang="en-US" altLang="ko-KR"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55798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noProof="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기획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테스트 시나리오 작성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851531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디자인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컴포넌트/모듈 디자인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506698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디자인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시안 확정 및 </a:t>
                      </a:r>
                      <a:r>
                        <a:rPr lang="ko-KR" altLang="en-US" sz="900" b="0" i="0" u="none" strike="noStrike" cap="none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에셋</a:t>
                      </a: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 산출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947184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퍼블리싱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화면 퍼블리싱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717225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개발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개발 환경 </a:t>
                      </a:r>
                      <a:r>
                        <a:rPr lang="ko-KR" altLang="en-US" sz="900" b="0" i="0" u="none" strike="noStrike" cap="none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셋업</a:t>
                      </a:r>
                      <a:endParaRPr lang="ko-KR" altLang="en-US"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Arial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466829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noProof="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개발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ctr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CI/CD </a:t>
                      </a: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고도화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noProof="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개발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baseline="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분석 및 설계</a:t>
                      </a:r>
                      <a:endParaRPr lang="ko-KR" altLang="en-US"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Arial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noProof="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개발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ctr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핵심 개발</a:t>
                      </a:r>
                      <a:endParaRPr lang="en-US" altLang="ko-KR"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Arial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968852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noProof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개발</a:t>
                      </a:r>
                      <a:endParaRPr lang="ko-KR" altLang="en-US" sz="900" b="0" i="0" u="none" strike="noStrike" cap="none" noProof="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ctr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관리자 개발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31720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noProof="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테스트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ctr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시나리오 전수</a:t>
                      </a:r>
                      <a:r>
                        <a:rPr lang="en-US" altLang="ko-KR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·</a:t>
                      </a: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성능</a:t>
                      </a:r>
                      <a:r>
                        <a:rPr lang="en-US" altLang="ko-KR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·</a:t>
                      </a: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보안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B9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B9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B9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915906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noProof="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오픈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ctr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통합 오픈</a:t>
                      </a:r>
                      <a:endParaRPr lang="ko-KR" altLang="en-US"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Arial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482473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noProof="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안정화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안정화</a:t>
                      </a:r>
                      <a:r>
                        <a:rPr lang="en-US" altLang="ko-KR" sz="9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·</a:t>
                      </a:r>
                      <a:r>
                        <a:rPr lang="ko-KR" altLang="en-US" sz="9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모니터링</a:t>
                      </a:r>
                      <a:r>
                        <a:rPr lang="en-US" altLang="ko-KR" sz="9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·</a:t>
                      </a:r>
                      <a:r>
                        <a:rPr lang="ko-KR" altLang="en-US" sz="9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운영 이관</a:t>
                      </a:r>
                      <a:endParaRPr lang="ko-KR" altLang="en-US"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Arial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0261628"/>
                  </a:ext>
                </a:extLst>
              </a:tr>
            </a:tbl>
          </a:graphicData>
        </a:graphic>
      </p:graphicFrame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53A7BB3E-6D5D-A997-2D46-DE134D6116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전체 일정</a:t>
            </a:r>
          </a:p>
        </p:txBody>
      </p:sp>
      <p:grpSp>
        <p:nvGrpSpPr>
          <p:cNvPr id="4" name="그룹 3"/>
          <p:cNvGrpSpPr/>
          <p:nvPr/>
        </p:nvGrpSpPr>
        <p:grpSpPr>
          <a:xfrm>
            <a:off x="5410865" y="782846"/>
            <a:ext cx="642788" cy="5423482"/>
            <a:chOff x="2955119" y="879241"/>
            <a:chExt cx="642788" cy="6031320"/>
          </a:xfrm>
        </p:grpSpPr>
        <p:cxnSp>
          <p:nvCxnSpPr>
            <p:cNvPr id="8" name="직선 연결선 7"/>
            <p:cNvCxnSpPr>
              <a:cxnSpLocks/>
              <a:stCxn id="9" idx="2"/>
            </p:cNvCxnSpPr>
            <p:nvPr/>
          </p:nvCxnSpPr>
          <p:spPr>
            <a:xfrm>
              <a:off x="3276513" y="1090288"/>
              <a:ext cx="0" cy="5820273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모서리가 둥근 직사각형 8"/>
            <p:cNvSpPr/>
            <p:nvPr/>
          </p:nvSpPr>
          <p:spPr>
            <a:xfrm>
              <a:off x="2955119" y="879241"/>
              <a:ext cx="642788" cy="211047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 err="1">
                  <a:latin typeface="맑은 고딕" panose="020B0600000101010101" pitchFamily="34" charset="-127"/>
                  <a:ea typeface="맑은 고딕" panose="020B0600000101010101" pitchFamily="34" charset="-127"/>
                </a:rPr>
                <a:t>진척률</a:t>
              </a:r>
              <a:endParaRPr lang="ko-KR" altLang="en-US" sz="1000" b="1" dirty="0">
                <a:latin typeface="맑은 고딕" panose="020B0600000101010101" pitchFamily="34" charset="-127"/>
                <a:ea typeface="맑은 고딕" panose="020B0600000101010101" pitchFamily="34" charset="-127"/>
              </a:endParaRPr>
            </a:p>
          </p:txBody>
        </p:sp>
      </p:grp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865918"/>
              </p:ext>
            </p:extLst>
          </p:nvPr>
        </p:nvGraphicFramePr>
        <p:xfrm>
          <a:off x="567817" y="840826"/>
          <a:ext cx="1962306" cy="4876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981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1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금주 실적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금주 누적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5.5%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10.5%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9122399" y="701040"/>
            <a:ext cx="2191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1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기간 : 2026. 07. 06 ~ 2026. 07. 10</a:t>
            </a:r>
            <a:endParaRPr lang="ko-KR" altLang="en-US" sz="1100" dirty="0">
              <a:latin typeface="맑은 고딕" panose="020B0600000101010101" pitchFamily="34" charset="-127"/>
              <a:ea typeface="맑은 고딕" panose="020B0600000101010101" pitchFamily="34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6188" y="1455090"/>
            <a:ext cx="116410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맑은 고딕" panose="020B0600000101010101" pitchFamily="34" charset="-127"/>
                <a:ea typeface="맑은 고딕" panose="020B0600000101010101" pitchFamily="34" charset="-127"/>
              </a:rPr>
              <a:t>실적 기준 : 07월 10일</a:t>
            </a:r>
          </a:p>
        </p:txBody>
      </p:sp>
      <p:sp>
        <p:nvSpPr>
          <p:cNvPr id="12" name="제목 11">
            <a:extLst>
              <a:ext uri="{FF2B5EF4-FFF2-40B4-BE49-F238E27FC236}">
                <a16:creationId xmlns:a16="http://schemas.microsoft.com/office/drawing/2014/main" id="{6D265A54-C770-60B5-7816-EAE1A8219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839" y="252671"/>
            <a:ext cx="1736053" cy="110800"/>
          </a:xfrm>
        </p:spPr>
        <p:txBody>
          <a:bodyPr wrap="none"/>
          <a:lstStyle/>
          <a:p>
            <a:r>
              <a:rPr lang="ko-KR" altLang="ko-KR" sz="800" b="1" dirty="0">
                <a:latin typeface="맑은 고딕" panose="020B0600000101010101" pitchFamily="34" charset="-127"/>
                <a:ea typeface="맑은 고딕" panose="020B0600000101010101" pitchFamily="34" charset="-127"/>
                <a:cs typeface="Arial"/>
                <a:sym typeface="Arial"/>
              </a:rPr>
              <a:t>〇〇 프로젝트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4213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638D8-1E99-5B05-28B1-931DACBF6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0E3F7D0-8AF7-E33E-642C-687568694A50}"/>
              </a:ext>
            </a:extLst>
          </p:cNvPr>
          <p:cNvSpPr txBox="1"/>
          <p:nvPr/>
        </p:nvSpPr>
        <p:spPr>
          <a:xfrm>
            <a:off x="381663" y="413468"/>
            <a:ext cx="10246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1. </a:t>
            </a:r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전체 일정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CDEEA251-5F3A-A662-23DA-35535657D0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 rIns="0"/>
          <a:lstStyle/>
          <a:p>
            <a:r>
              <a:rPr lang="en-US" altLang="ko-KR" dirty="0"/>
              <a:t>2. </a:t>
            </a:r>
            <a:r>
              <a:rPr lang="ko-KR" altLang="en-US" dirty="0"/>
              <a:t>진척 현황</a:t>
            </a:r>
          </a:p>
        </p:txBody>
      </p:sp>
      <p:sp>
        <p:nvSpPr>
          <p:cNvPr id="12" name="제목 11">
            <a:extLst>
              <a:ext uri="{FF2B5EF4-FFF2-40B4-BE49-F238E27FC236}">
                <a16:creationId xmlns:a16="http://schemas.microsoft.com/office/drawing/2014/main" id="{FAC721D1-A872-47EB-4126-B22FA3F8C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lang="ko-KR" altLang="ko-KR" sz="800" b="1" dirty="0">
                <a:latin typeface="맑은 고딕" panose="020B0600000101010101" pitchFamily="34" charset="-127"/>
                <a:ea typeface="맑은 고딕" panose="020B0600000101010101" pitchFamily="34" charset="-127"/>
                <a:cs typeface="Arial"/>
                <a:sym typeface="Arial"/>
              </a:rPr>
              <a:t>〇〇 프로젝트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2A38DB-5A6D-A52A-00BE-8399DE4E268F}"/>
              </a:ext>
            </a:extLst>
          </p:cNvPr>
          <p:cNvSpPr txBox="1"/>
          <p:nvPr/>
        </p:nvSpPr>
        <p:spPr>
          <a:xfrm>
            <a:off x="612251" y="793834"/>
            <a:ext cx="12330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가</a:t>
            </a:r>
            <a:r>
              <a:rPr lang="en-US" altLang="ko-KR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. </a:t>
            </a:r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전체 </a:t>
            </a:r>
            <a:r>
              <a:rPr lang="ko-KR" altLang="en-US" sz="1400" dirty="0" err="1">
                <a:latin typeface="맑은 고딕" panose="020B0600000101010101" pitchFamily="34" charset="-127"/>
                <a:ea typeface="맑은 고딕" panose="020B0600000101010101" pitchFamily="34" charset="-127"/>
              </a:rPr>
              <a:t>진척률</a:t>
            </a:r>
            <a:endParaRPr lang="ko-KR" altLang="en-US" sz="1400" dirty="0">
              <a:latin typeface="맑은 고딕" panose="020B0600000101010101" pitchFamily="34" charset="-127"/>
              <a:ea typeface="맑은 고딕" panose="020B0600000101010101" pitchFamily="34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3EA086C-1E69-B92E-B599-E5767120B7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469172"/>
              </p:ext>
            </p:extLst>
          </p:nvPr>
        </p:nvGraphicFramePr>
        <p:xfrm>
          <a:off x="696181" y="1239315"/>
          <a:ext cx="10753694" cy="109279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536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0393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금주 </a:t>
                      </a:r>
                      <a:r>
                        <a:rPr lang="ko-KR" altLang="en-US" sz="1100" b="1" kern="1200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진척률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차주 계획 </a:t>
                      </a:r>
                      <a:r>
                        <a:rPr lang="ko-KR" altLang="en-US" sz="1100" b="1" kern="1200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진척률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07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주간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누적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13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계획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실적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계획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실적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주간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누적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전체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7.0%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rgbClr val="0036E2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5.5%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12.0%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rgbClr val="0036E2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10.5%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kern="12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7.5%</a:t>
                      </a:r>
                      <a:endParaRPr lang="ko-KR" altLang="en-US" sz="1300" kern="1200" dirty="0">
                        <a:solidFill>
                          <a:schemeClr val="tx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b="1" kern="12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18.0%</a:t>
                      </a:r>
                      <a:endParaRPr lang="ko-KR" altLang="en-US" sz="1300" b="1" kern="1200" dirty="0">
                        <a:solidFill>
                          <a:schemeClr val="tx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CB0A1AA-7AEE-7702-391E-EDA93D23081A}"/>
              </a:ext>
            </a:extLst>
          </p:cNvPr>
          <p:cNvSpPr txBox="1"/>
          <p:nvPr/>
        </p:nvSpPr>
        <p:spPr>
          <a:xfrm>
            <a:off x="9333278" y="947722"/>
            <a:ext cx="21916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1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기간 : 2026. 07. 06 ~ 2026. 07. 10</a:t>
            </a:r>
            <a:endParaRPr lang="ko-KR" altLang="en-US" sz="1100" dirty="0">
              <a:latin typeface="맑은 고딕" panose="020B0600000101010101" pitchFamily="34" charset="-127"/>
              <a:ea typeface="맑은 고딕" panose="020B0600000101010101" pitchFamily="34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093B36-1E59-7B19-99FD-D72ACD443056}"/>
              </a:ext>
            </a:extLst>
          </p:cNvPr>
          <p:cNvSpPr txBox="1"/>
          <p:nvPr/>
        </p:nvSpPr>
        <p:spPr>
          <a:xfrm>
            <a:off x="612251" y="2469809"/>
            <a:ext cx="12186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400">
                <a:latin typeface="맑은 고딕" panose="020B0600000101010101" pitchFamily="34" charset="-127"/>
                <a:ea typeface="맑은 고딕" panose="020B0600000101010101" pitchFamily="34" charset="-127"/>
              </a:defRPr>
            </a:lvl1pPr>
          </a:lstStyle>
          <a:p>
            <a:r>
              <a:rPr lang="ko-KR" altLang="en-US" dirty="0"/>
              <a:t>나</a:t>
            </a:r>
            <a:r>
              <a:rPr lang="en-US" altLang="ko-KR" dirty="0"/>
              <a:t>. </a:t>
            </a:r>
            <a:r>
              <a:rPr lang="ko-KR" altLang="en-US" dirty="0"/>
              <a:t>업무별 </a:t>
            </a:r>
            <a:r>
              <a:rPr lang="ko-KR" altLang="en-US" dirty="0" err="1"/>
              <a:t>진척률</a:t>
            </a:r>
            <a:endParaRPr lang="ko-KR" altLang="en-US" dirty="0"/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E33892AC-2291-B9E5-F24E-FB646BFB46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8858712"/>
              </p:ext>
            </p:extLst>
          </p:nvPr>
        </p:nvGraphicFramePr>
        <p:xfrm>
          <a:off x="696181" y="2845969"/>
          <a:ext cx="10753694" cy="2343256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536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5713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금주 </a:t>
                      </a:r>
                      <a:r>
                        <a:rPr lang="ko-KR" altLang="en-US" sz="1100" b="1" kern="1200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진척률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차주 계획 </a:t>
                      </a:r>
                      <a:r>
                        <a:rPr lang="ko-KR" altLang="en-US" sz="1100" b="1" kern="1200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진척률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981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주간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누적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76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계획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실적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계획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실적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주간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누적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기획 </a:t>
                      </a: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(</a:t>
                      </a:r>
                      <a:r>
                        <a:rPr lang="ko-KR" altLang="en-US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분석</a:t>
                      </a: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/</a:t>
                      </a:r>
                      <a:r>
                        <a:rPr lang="ko-KR" altLang="en-US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설계</a:t>
                      </a: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7.0%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kern="1200" dirty="0">
                          <a:solidFill>
                            <a:srgbClr val="0036E2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6.0%</a:t>
                      </a:r>
                      <a:endParaRPr lang="ko-KR" altLang="en-US" sz="1300" kern="1200" dirty="0">
                        <a:solidFill>
                          <a:srgbClr val="0036E2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15.0%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kern="1200" dirty="0">
                          <a:solidFill>
                            <a:srgbClr val="0036E2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14.0%</a:t>
                      </a:r>
                      <a:endParaRPr lang="ko-KR" altLang="en-US" sz="1300" kern="1200" dirty="0">
                        <a:solidFill>
                          <a:srgbClr val="0036E2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8.0%</a:t>
                      </a:r>
                      <a:endParaRPr lang="ko-KR" altLang="en-US" sz="130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ko-KR" sz="13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22.0%</a:t>
                      </a:r>
                      <a:endParaRPr lang="ko-KR" altLang="en-US" sz="13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디자인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98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퍼블리싱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511891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시스템 개발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7.0%</a:t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rgbClr val="0036E2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5.0%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10.0%</a:t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rgbClr val="0036E2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8.0%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8.0%</a:t>
                      </a:r>
                      <a:endParaRPr lang="ko-KR" altLang="en-US" sz="130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16.0%</a:t>
                      </a:r>
                      <a:endParaRPr lang="ko-KR" altLang="en-US" sz="13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검증</a:t>
                      </a: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·</a:t>
                      </a:r>
                      <a:r>
                        <a:rPr lang="ko-KR" altLang="en-US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릴리즈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671251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D79B043-713D-60B3-2B4D-D212338E71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9381119"/>
              </p:ext>
            </p:extLst>
          </p:nvPr>
        </p:nvGraphicFramePr>
        <p:xfrm>
          <a:off x="696181" y="5496874"/>
          <a:ext cx="10753694" cy="826807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5186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4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0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지연 사유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일부 자료 수급 지연</a:t>
                      </a:r>
                      <a:endParaRPr lang="en-US" altLang="ko-KR" sz="1050" b="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7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err="1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캐치업</a:t>
                      </a:r>
                      <a:r>
                        <a:rPr lang="ko-KR" altLang="en-US" sz="105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 방안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우선순위 작업부터 선행 진행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4008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2FCC3-2E72-1936-F7C1-2379D939B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BC42664-DA5F-DF1A-15FF-49FA759B5349}"/>
              </a:ext>
            </a:extLst>
          </p:cNvPr>
          <p:cNvSpPr txBox="1"/>
          <p:nvPr/>
        </p:nvSpPr>
        <p:spPr>
          <a:xfrm>
            <a:off x="381663" y="413468"/>
            <a:ext cx="10246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1. </a:t>
            </a:r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전체 일정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6184B10D-A9F2-DA03-6CF1-53635B3F2F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 rIns="0"/>
          <a:lstStyle/>
          <a:p>
            <a:r>
              <a:rPr lang="en-US" altLang="ko-KR" dirty="0"/>
              <a:t>3. </a:t>
            </a:r>
            <a:r>
              <a:rPr lang="ko-KR" altLang="en-US" dirty="0"/>
              <a:t>주간 실적 및 차주 계획</a:t>
            </a:r>
          </a:p>
        </p:txBody>
      </p:sp>
      <p:sp>
        <p:nvSpPr>
          <p:cNvPr id="12" name="제목 11">
            <a:extLst>
              <a:ext uri="{FF2B5EF4-FFF2-40B4-BE49-F238E27FC236}">
                <a16:creationId xmlns:a16="http://schemas.microsoft.com/office/drawing/2014/main" id="{2A076FB2-5797-55E3-EE03-7DC9673F3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lang="ko-KR" altLang="ko-KR" sz="800" b="1" dirty="0">
                <a:latin typeface="맑은 고딕" panose="020B0600000101010101" pitchFamily="34" charset="-127"/>
                <a:ea typeface="맑은 고딕" panose="020B0600000101010101" pitchFamily="34" charset="-127"/>
                <a:cs typeface="Arial"/>
                <a:sym typeface="Arial"/>
              </a:rPr>
              <a:t>〇〇 프로젝트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2449942-0687-C397-013B-8EEB25CF29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774901"/>
              </p:ext>
            </p:extLst>
          </p:nvPr>
        </p:nvGraphicFramePr>
        <p:xfrm>
          <a:off x="672327" y="823033"/>
          <a:ext cx="10777550" cy="387096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02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36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805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32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19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업무구분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W2 업무 진행</a:t>
                      </a:r>
                      <a:endParaRPr lang="ko-KR" altLang="en-US" sz="11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  <a:p>
                      <a: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(7/6~7/10)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관련 산출물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W3 업무 계획</a:t>
                      </a:r>
                    </a:p>
                    <a:p>
                      <a: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(7/13~7/17)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관련 산출물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6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프로젝트 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[관리]</a:t>
                      </a:r>
                    </a:p>
                    <a:p>
                      <a:r>
                        <a:rPr lang="en-US" altLang="ko-KR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주간 일정 점검</a:t>
                      </a:r>
                    </a:p>
                    <a:p>
                      <a:r>
                        <a:rPr lang="en-US" altLang="ko-KR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[회의]</a:t>
                      </a:r>
                    </a:p>
                    <a:p>
                      <a:r>
                        <a:rPr lang="en-US" altLang="ko-KR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정기 회의 진행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ko-KR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[관리]</a:t>
                      </a:r>
                    </a:p>
                    <a:p>
                      <a:r>
                        <a:rPr lang="ko-KR" altLang="ko-KR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다음 마일스톤 준비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기획 </a:t>
                      </a:r>
                      <a: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(</a:t>
                      </a:r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분석</a:t>
                      </a:r>
                      <a: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/</a:t>
                      </a:r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설계</a:t>
                      </a:r>
                      <a: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ko-KR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[작업]</a:t>
                      </a:r>
                    </a:p>
                    <a:p>
                      <a:r>
                        <a:rPr lang="ko-KR" altLang="ko-KR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화면 설계 초안 작성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t/>
                      </a:r>
                      <a:endParaRPr lang="ko-KR" altLang="en-US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ko-KR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[작업]</a:t>
                      </a:r>
                    </a:p>
                    <a:p>
                      <a:r>
                        <a:rPr lang="ko-KR" altLang="ko-KR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설계 검토 및 보완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t/>
                      </a:r>
                      <a:endParaRPr lang="ko-KR" altLang="en-US" sz="11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0177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FF50D-A5A8-6C52-8BC2-76BCB4BF1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D43132D-D254-5CD0-DFC4-C4AC63CC7D46}"/>
              </a:ext>
            </a:extLst>
          </p:cNvPr>
          <p:cNvSpPr txBox="1"/>
          <p:nvPr/>
        </p:nvSpPr>
        <p:spPr>
          <a:xfrm>
            <a:off x="381663" y="413468"/>
            <a:ext cx="10246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1. </a:t>
            </a:r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전체 일정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8CC262E9-34C4-0C7E-CC44-22C9832EC8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 rIns="0"/>
          <a:lstStyle/>
          <a:p>
            <a:r>
              <a:rPr lang="en-US" altLang="ko-KR" dirty="0"/>
              <a:t>3. </a:t>
            </a:r>
            <a:r>
              <a:rPr lang="ko-KR" altLang="en-US" dirty="0"/>
              <a:t>주간 실적 및 차주 계획</a:t>
            </a:r>
          </a:p>
        </p:txBody>
      </p:sp>
      <p:sp>
        <p:nvSpPr>
          <p:cNvPr id="12" name="제목 11">
            <a:extLst>
              <a:ext uri="{FF2B5EF4-FFF2-40B4-BE49-F238E27FC236}">
                <a16:creationId xmlns:a16="http://schemas.microsoft.com/office/drawing/2014/main" id="{B4F5CA73-BB90-425B-1983-0F3FB8AE8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lang="ko-KR" altLang="ko-KR" sz="800" b="1" dirty="0">
                <a:latin typeface="맑은 고딕" panose="020B0600000101010101" pitchFamily="34" charset="-127"/>
                <a:ea typeface="맑은 고딕" panose="020B0600000101010101" pitchFamily="34" charset="-127"/>
                <a:cs typeface="Arial"/>
                <a:sym typeface="Arial"/>
              </a:rPr>
              <a:t>〇〇 프로젝트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F5A75FE-BB2B-9143-24D9-1BEB21546F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1579111"/>
              </p:ext>
            </p:extLst>
          </p:nvPr>
        </p:nvGraphicFramePr>
        <p:xfrm>
          <a:off x="672327" y="823033"/>
          <a:ext cx="10777550" cy="5056312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02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36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805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32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19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업무구분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W2 업무 진행</a:t>
                      </a:r>
                      <a:endParaRPr lang="ko-KR" altLang="en-US" sz="11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  <a:p>
                      <a: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(7/6~7/10)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관련 산출물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W3 업무 계획</a:t>
                      </a:r>
                    </a:p>
                    <a:p>
                      <a: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(7/13~7/17)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관련 산출물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249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디자인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en-US" altLang="ko-KR" sz="1100" b="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t/>
                      </a:r>
                      <a:endParaRPr lang="ko-KR" altLang="en-US" sz="11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en-US" altLang="ko-KR" sz="1100" b="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t/>
                      </a:r>
                      <a:endParaRPr lang="ko-KR" altLang="en-US" sz="11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54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퍼블리싱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en-US" altLang="ko-KR" sz="1100" b="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t/>
                      </a:r>
                      <a:endParaRPr lang="ko-KR" altLang="en-US" sz="11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en-US" altLang="ko-KR" sz="1100" b="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t/>
                      </a:r>
                      <a:endParaRPr lang="ko-KR" altLang="en-US" sz="11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192062"/>
                  </a:ext>
                </a:extLst>
              </a:tr>
              <a:tr h="20116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시스템 개발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ko-KR" sz="11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/>
                      </a:r>
                      <a:endParaRPr lang="ko-KR" altLang="en-US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ko-KR" sz="11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ko-KR" sz="1100" b="0" kern="1200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2658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76137-FA2A-D9AF-839B-6255FB650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EEB5DCB-A903-AD60-CFBF-7931D7AB3C63}"/>
              </a:ext>
            </a:extLst>
          </p:cNvPr>
          <p:cNvSpPr txBox="1"/>
          <p:nvPr/>
        </p:nvSpPr>
        <p:spPr>
          <a:xfrm>
            <a:off x="381663" y="413468"/>
            <a:ext cx="10246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1. </a:t>
            </a:r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전체 일정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ADDAE058-599B-AE8B-B2C8-893034672F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 rIns="0"/>
          <a:lstStyle/>
          <a:p>
            <a:r>
              <a:rPr lang="en-US" altLang="ko-KR" dirty="0"/>
              <a:t>4. </a:t>
            </a:r>
            <a:r>
              <a:rPr lang="ko-KR" altLang="en-US" dirty="0"/>
              <a:t>주요 이슈</a:t>
            </a:r>
          </a:p>
        </p:txBody>
      </p:sp>
      <p:sp>
        <p:nvSpPr>
          <p:cNvPr id="12" name="제목 11">
            <a:extLst>
              <a:ext uri="{FF2B5EF4-FFF2-40B4-BE49-F238E27FC236}">
                <a16:creationId xmlns:a16="http://schemas.microsoft.com/office/drawing/2014/main" id="{D045D16F-5DBB-BAC0-274F-FA00EB505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lang="ko-KR" altLang="ko-KR" sz="800" b="1" dirty="0">
                <a:latin typeface="맑은 고딕" panose="020B0600000101010101" pitchFamily="34" charset="-127"/>
                <a:ea typeface="맑은 고딕" panose="020B0600000101010101" pitchFamily="34" charset="-127"/>
                <a:cs typeface="Arial"/>
                <a:sym typeface="Arial"/>
              </a:rPr>
              <a:t>〇〇 프로젝트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701F8B0-CA50-7D21-37EC-C0D433858F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4735130"/>
              </p:ext>
            </p:extLst>
          </p:nvPr>
        </p:nvGraphicFramePr>
        <p:xfrm>
          <a:off x="672327" y="823033"/>
          <a:ext cx="10605273" cy="4524514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03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2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19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내용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08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요청 사항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- 검토 의견 회신 요청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이슈 사항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특이사항 없음</a:t>
                      </a:r>
                      <a:endParaRPr lang="en-US" altLang="ko-KR" sz="1100" b="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917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D1D68-D26A-4CEF-6900-56DFA98F1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A64F872-6820-106D-23B2-C07184C353C1}"/>
              </a:ext>
            </a:extLst>
          </p:cNvPr>
          <p:cNvSpPr txBox="1"/>
          <p:nvPr/>
        </p:nvSpPr>
        <p:spPr>
          <a:xfrm>
            <a:off x="381663" y="413468"/>
            <a:ext cx="10246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1. </a:t>
            </a:r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전체 일정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CF1D92DC-0D33-307D-0B7C-B50385677F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 rIns="0"/>
          <a:lstStyle/>
          <a:p>
            <a:r>
              <a:rPr lang="en-US" altLang="ko-KR" dirty="0"/>
              <a:t>#Appendix</a:t>
            </a:r>
            <a:endParaRPr lang="ko-KR" altLang="en-US" dirty="0"/>
          </a:p>
        </p:txBody>
      </p:sp>
      <p:sp>
        <p:nvSpPr>
          <p:cNvPr id="12" name="제목 11">
            <a:extLst>
              <a:ext uri="{FF2B5EF4-FFF2-40B4-BE49-F238E27FC236}">
                <a16:creationId xmlns:a16="http://schemas.microsoft.com/office/drawing/2014/main" id="{82F8CB75-733F-48B4-C5BA-DEC2E8974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lang="ko-KR" altLang="ko-KR" sz="800" b="1" dirty="0">
                <a:latin typeface="맑은 고딕" panose="020B0600000101010101" pitchFamily="34" charset="-127"/>
                <a:ea typeface="맑은 고딕" panose="020B0600000101010101" pitchFamily="34" charset="-127"/>
                <a:cs typeface="Arial"/>
                <a:sym typeface="Arial"/>
              </a:rPr>
              <a:t>〇〇 프로젝트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683D5-47BC-35D1-BE61-0F30B9C803CD}"/>
              </a:ext>
            </a:extLst>
          </p:cNvPr>
          <p:cNvSpPr txBox="1"/>
          <p:nvPr/>
        </p:nvSpPr>
        <p:spPr>
          <a:xfrm>
            <a:off x="612251" y="793834"/>
            <a:ext cx="26148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가</a:t>
            </a:r>
            <a:r>
              <a:rPr lang="en-US" altLang="ko-KR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. </a:t>
            </a:r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이슈 관리 대장 </a:t>
            </a:r>
            <a:r>
              <a:rPr lang="en-US" altLang="ko-KR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(</a:t>
            </a:r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별도 문서 전달</a:t>
            </a:r>
            <a:r>
              <a:rPr lang="en-US" altLang="ko-KR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)</a:t>
            </a:r>
            <a:endParaRPr lang="ko-KR" altLang="en-US" sz="1400" dirty="0">
              <a:latin typeface="맑은 고딕" panose="020B0600000101010101" pitchFamily="34" charset="-127"/>
              <a:ea typeface="맑은 고딕" panose="020B0600000101010101" pitchFamily="34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D6641D4-7EFB-3F71-99CD-19A86FA5D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543" y="1226387"/>
            <a:ext cx="11530914" cy="4555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668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2"/>
          <p:cNvSpPr txBox="1"/>
          <p:nvPr/>
        </p:nvSpPr>
        <p:spPr>
          <a:xfrm>
            <a:off x="3795491" y="2649053"/>
            <a:ext cx="4601018" cy="1559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altLang="ko-KR" sz="3600" b="1" dirty="0">
                <a:solidFill>
                  <a:schemeClr val="dk1"/>
                </a:solidFill>
                <a:latin typeface="맑은 고딕" panose="020B0600000101010101" pitchFamily="34" charset="-127"/>
                <a:ea typeface="맑은 고딕" panose="020B0600000101010101" pitchFamily="34" charset="-127"/>
                <a:sym typeface="Arial"/>
              </a:rPr>
              <a:t>End of Document.</a:t>
            </a:r>
            <a:endParaRPr sz="3600" b="1" dirty="0">
              <a:solidFill>
                <a:schemeClr val="dk1"/>
              </a:solidFill>
              <a:latin typeface="맑은 고딕" panose="020B0600000101010101" pitchFamily="34" charset="-127"/>
              <a:ea typeface="맑은 고딕" panose="020B0600000101010101" pitchFamily="34" charset="-127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1983</TotalTime>
  <Words>839</Words>
  <Application>Microsoft Office PowerPoint</Application>
  <PresentationFormat>와이드스크린</PresentationFormat>
  <Paragraphs>271</Paragraphs>
  <Slides>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맑은 고딕</vt:lpstr>
      <vt:lpstr>맑은 고딕</vt:lpstr>
      <vt:lpstr>맑은 고딕</vt:lpstr>
      <vt:lpstr>맑은 고딕</vt:lpstr>
      <vt:lpstr>Arial</vt:lpstr>
      <vt:lpstr>Office 테마</vt:lpstr>
      <vt:lpstr>PowerPoint 프레젠테이션</vt:lpstr>
      <vt:lpstr>〇〇 프로젝트</vt:lpstr>
      <vt:lpstr>〇〇 프로젝트</vt:lpstr>
      <vt:lpstr>〇〇 프로젝트</vt:lpstr>
      <vt:lpstr>〇〇 프로젝트</vt:lpstr>
      <vt:lpstr>〇〇 프로젝트</vt:lpstr>
      <vt:lpstr>〇〇 프로젝트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〇〇</dc:creator>
  <cp:lastModifiedBy>지은 신</cp:lastModifiedBy>
  <cp:revision>189</cp:revision>
  <dcterms:created xsi:type="dcterms:W3CDTF">2025-10-30T06:09:25Z</dcterms:created>
  <dcterms:modified xsi:type="dcterms:W3CDTF">2026-06-23T04:53:06Z</dcterms:modified>
</cp:coreProperties>
</file>