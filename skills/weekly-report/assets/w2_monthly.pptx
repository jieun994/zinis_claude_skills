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5" r:id="rId8"/>
    <p:sldId id="277" r:id="rId9"/>
    <p:sldId id="278" r:id="rId10"/>
    <p:sldId id="27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6E2"/>
    <a:srgbClr val="E6B9B8"/>
    <a:srgbClr val="C6D9F1"/>
    <a:srgbClr val="FCD5B5"/>
    <a:srgbClr val="FFFFFF"/>
    <a:srgbClr val="6C71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7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DFAE0-CD80-4245-B1CD-9B4B0BC56BC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16DED-2A9E-4433-A47E-2ED99CD35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108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>
                <a:latin typeface="맑은 고딕" panose="020B0600000101010101" pitchFamily="34" charset="-127"/>
                <a:ea typeface="맑은 고딕" panose="020B0600000101010101" pitchFamily="34" charset="-127"/>
              </a:rPr>
              <a:t>1</a:t>
            </a:fld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341" name="Google Shape;3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95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7;p15">
            <a:extLst>
              <a:ext uri="{FF2B5EF4-FFF2-40B4-BE49-F238E27FC236}">
                <a16:creationId xmlns:a16="http://schemas.microsoft.com/office/drawing/2014/main" id="{10C0FE5F-B562-5EEB-7E02-59FA0F5E9AB3}"/>
              </a:ext>
            </a:extLst>
          </p:cNvPr>
          <p:cNvCxnSpPr>
            <a:cxnSpLocks/>
          </p:cNvCxnSpPr>
          <p:nvPr userDrawn="1"/>
        </p:nvCxnSpPr>
        <p:spPr>
          <a:xfrm>
            <a:off x="700391" y="563979"/>
            <a:ext cx="11528204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" name="Google Shape;21;p15">
            <a:extLst>
              <a:ext uri="{FF2B5EF4-FFF2-40B4-BE49-F238E27FC236}">
                <a16:creationId xmlns:a16="http://schemas.microsoft.com/office/drawing/2014/main" id="{3C44CC50-726E-2D4F-893B-BD4AFB7BD5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839" y="340763"/>
            <a:ext cx="2610325" cy="3282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5850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00"/>
              <a:buNone/>
              <a:defRPr sz="1300" b="1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18;p15">
            <a:extLst>
              <a:ext uri="{FF2B5EF4-FFF2-40B4-BE49-F238E27FC236}">
                <a16:creationId xmlns:a16="http://schemas.microsoft.com/office/drawing/2014/main" id="{E1D9A1F3-98C1-212B-B2BD-7E203A16E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839" y="251774"/>
            <a:ext cx="1464603" cy="112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13"/>
              <a:buFont typeface="Malgun Gothic"/>
              <a:buNone/>
              <a:defRPr sz="813">
                <a:solidFill>
                  <a:srgbClr val="262626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맑은 고딕" panose="020B0600000101010101" pitchFamily="34" charset="-127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9;p15">
            <a:extLst>
              <a:ext uri="{FF2B5EF4-FFF2-40B4-BE49-F238E27FC236}">
                <a16:creationId xmlns:a16="http://schemas.microsoft.com/office/drawing/2014/main" id="{19A8BBF3-9509-EF95-D77C-1B2E4573BA62}"/>
              </a:ext>
            </a:extLst>
          </p:cNvPr>
          <p:cNvSpPr txBox="1"/>
          <p:nvPr userDrawn="1"/>
        </p:nvSpPr>
        <p:spPr>
          <a:xfrm>
            <a:off x="6177804" y="6530629"/>
            <a:ext cx="354554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50" b="0">
                <a:solidFill>
                  <a:srgbClr val="3F3F3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rPr>
              <a:t>‹#›</a:t>
            </a:fld>
            <a:endParaRPr sz="1050" b="0" dirty="0">
              <a:solidFill>
                <a:srgbClr val="3F3F3F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cxnSp>
        <p:nvCxnSpPr>
          <p:cNvPr id="10" name="Google Shape;20;p15">
            <a:extLst>
              <a:ext uri="{FF2B5EF4-FFF2-40B4-BE49-F238E27FC236}">
                <a16:creationId xmlns:a16="http://schemas.microsoft.com/office/drawing/2014/main" id="{4D2EFD6B-A41F-FA8D-427B-ADF3D9701406}"/>
              </a:ext>
            </a:extLst>
          </p:cNvPr>
          <p:cNvCxnSpPr>
            <a:cxnSpLocks/>
          </p:cNvCxnSpPr>
          <p:nvPr userDrawn="1"/>
        </p:nvCxnSpPr>
        <p:spPr>
          <a:xfrm>
            <a:off x="0" y="6483194"/>
            <a:ext cx="12191999" cy="0"/>
          </a:xfrm>
          <a:prstGeom prst="straightConnector1">
            <a:avLst/>
          </a:prstGeom>
          <a:noFill/>
          <a:ln w="9525" cap="flat" cmpd="sng">
            <a:solidFill>
              <a:srgbClr val="CED9E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3;p15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4AD5B3-3DF6-1BD0-E4C1-EE4FEBEB5A7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1203174" y="6564536"/>
            <a:ext cx="905006" cy="22625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;p15">
            <a:extLst>
              <a:ext uri="{FF2B5EF4-FFF2-40B4-BE49-F238E27FC236}">
                <a16:creationId xmlns:a16="http://schemas.microsoft.com/office/drawing/2014/main" id="{01AF8339-9069-0F01-108C-34E1F417C2F6}"/>
              </a:ext>
            </a:extLst>
          </p:cNvPr>
          <p:cNvSpPr/>
          <p:nvPr userDrawn="1"/>
        </p:nvSpPr>
        <p:spPr>
          <a:xfrm>
            <a:off x="0" y="1672413"/>
            <a:ext cx="12192000" cy="4807107"/>
          </a:xfrm>
          <a:prstGeom prst="rect">
            <a:avLst/>
          </a:prstGeom>
          <a:solidFill>
            <a:srgbClr val="F9FAFB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5" name="Google Shape;25;p15" descr="preencoded.png">
            <a:extLst>
              <a:ext uri="{FF2B5EF4-FFF2-40B4-BE49-F238E27FC236}">
                <a16:creationId xmlns:a16="http://schemas.microsoft.com/office/drawing/2014/main" id="{E599A911-3BF4-E647-9E5D-CE9B6432AC51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8450580" y="908343"/>
            <a:ext cx="36576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6;p15">
            <a:extLst>
              <a:ext uri="{FF2B5EF4-FFF2-40B4-BE49-F238E27FC236}">
                <a16:creationId xmlns:a16="http://schemas.microsoft.com/office/drawing/2014/main" id="{6A6540BC-85CA-D290-B62B-7FBE8C8B7BBA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184736" y="6575096"/>
            <a:ext cx="632774" cy="2209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27;p15">
            <a:extLst>
              <a:ext uri="{FF2B5EF4-FFF2-40B4-BE49-F238E27FC236}">
                <a16:creationId xmlns:a16="http://schemas.microsoft.com/office/drawing/2014/main" id="{7C9EA79C-E774-819C-0B91-19D40D4E42AD}"/>
              </a:ext>
            </a:extLst>
          </p:cNvPr>
          <p:cNvSpPr/>
          <p:nvPr userDrawn="1"/>
        </p:nvSpPr>
        <p:spPr>
          <a:xfrm>
            <a:off x="1" y="-6168"/>
            <a:ext cx="12192000" cy="79659"/>
          </a:xfrm>
          <a:prstGeom prst="rect">
            <a:avLst/>
          </a:prstGeom>
          <a:solidFill>
            <a:srgbClr val="7BB6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045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012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9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193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01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59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94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98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13257-400D-4273-BE72-1C597FF5874C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2091-6EB6-4826-85BB-B886D1DE23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394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1885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56E13257-400D-4273-BE72-1C597FF5874C}" type="datetimeFigureOut">
              <a:rPr lang="ko-KR" altLang="en-US" smtClean="0"/>
              <a:pPr/>
              <a:t>2026-06-29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fld id="{9C3A2091-6EB6-4826-85BB-B886D1DE236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14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600000101010101" pitchFamily="34" charset="-127"/>
          <a:ea typeface="맑은 고딕" panose="020B0600000101010101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1143001" y="642939"/>
            <a:ext cx="9905752" cy="5572125"/>
          </a:xfrm>
          <a:prstGeom prst="rect">
            <a:avLst/>
          </a:prstGeom>
          <a:solidFill>
            <a:srgbClr val="F3F4F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26" y="0"/>
            <a:ext cx="12191973" cy="685815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pic>
        <p:nvPicPr>
          <p:cNvPr id="104" name="Google Shape;104;p1" descr="preencoded.png"/>
          <p:cNvPicPr preferRelativeResize="0"/>
          <p:nvPr/>
        </p:nvPicPr>
        <p:blipFill rotWithShape="1">
          <a:blip r:embed="rId3">
            <a:alphaModFix amt="15000"/>
          </a:blip>
          <a:srcRect/>
          <a:stretch/>
        </p:blipFill>
        <p:spPr>
          <a:xfrm>
            <a:off x="106680" y="1288773"/>
            <a:ext cx="2971800" cy="2971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3422DA5-DBD2-0DDE-2C26-55AC7ACB9CA1}"/>
              </a:ext>
            </a:extLst>
          </p:cNvPr>
          <p:cNvGrpSpPr/>
          <p:nvPr/>
        </p:nvGrpSpPr>
        <p:grpSpPr>
          <a:xfrm>
            <a:off x="0" y="1"/>
            <a:ext cx="12192000" cy="124073"/>
            <a:chOff x="1143248" y="1"/>
            <a:chExt cx="9905752" cy="124073"/>
          </a:xfrm>
        </p:grpSpPr>
        <p:sp>
          <p:nvSpPr>
            <p:cNvPr id="105" name="Google Shape;105;p1"/>
            <p:cNvSpPr/>
            <p:nvPr/>
          </p:nvSpPr>
          <p:spPr>
            <a:xfrm>
              <a:off x="1143248" y="1"/>
              <a:ext cx="9905752" cy="124073"/>
            </a:xfrm>
            <a:prstGeom prst="rect">
              <a:avLst/>
            </a:prstGeom>
            <a:solidFill>
              <a:srgbClr val="7BB600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143249" y="1"/>
              <a:ext cx="3304641" cy="124073"/>
            </a:xfrm>
            <a:prstGeom prst="rect">
              <a:avLst/>
            </a:prstGeom>
            <a:solidFill>
              <a:srgbClr val="005F26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10677525" y="1"/>
              <a:ext cx="371475" cy="124073"/>
            </a:xfrm>
            <a:prstGeom prst="rect">
              <a:avLst/>
            </a:prstGeom>
            <a:solidFill>
              <a:srgbClr val="FBBF24"/>
            </a:solidFill>
            <a:ln w="12700" cap="flat" cmpd="sng">
              <a:solidFill>
                <a:srgbClr val="FFFFFF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endParaRPr sz="1463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"/>
          <p:cNvSpPr/>
          <p:nvPr/>
        </p:nvSpPr>
        <p:spPr>
          <a:xfrm>
            <a:off x="849631" y="2434402"/>
            <a:ext cx="61665" cy="2213248"/>
          </a:xfrm>
          <a:prstGeom prst="rect">
            <a:avLst/>
          </a:prstGeom>
          <a:solidFill>
            <a:srgbClr val="E5E7EB"/>
          </a:solidFill>
          <a:ln w="12700" cap="flat" cmpd="sng">
            <a:solidFill>
              <a:srgbClr val="E5E7E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sz="146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1221105" y="2605012"/>
            <a:ext cx="8188052" cy="1161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ko-KR" altLang="en-US" sz="4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〇〇 앱</a:t>
            </a:r>
            <a:endParaRPr sz="4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en-US" altLang="ko-KR" sz="4000" dirty="0">
                <a:solidFill>
                  <a:srgbClr val="7BB600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AI </a:t>
            </a:r>
            <a:r>
              <a:rPr lang="ko-KR" altLang="en-US" sz="4000" dirty="0">
                <a:solidFill>
                  <a:srgbClr val="7BB600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챗봇 고도화</a:t>
            </a:r>
            <a:r>
              <a:rPr lang="ko-KR" altLang="en-US" sz="4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 프로젝트</a:t>
            </a:r>
            <a:endParaRPr lang="en-US" altLang="ko-KR" sz="4000" dirty="0">
              <a:solidFill>
                <a:srgbClr val="1F2937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  <a:p>
            <a:r>
              <a:rPr lang="ko-KR" altLang="en-US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주간업무 보고서 </a:t>
            </a:r>
            <a:r>
              <a:rPr lang="en-US" altLang="ko-KR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(W2) – 6</a:t>
            </a:r>
            <a:r>
              <a:rPr lang="ko-KR" altLang="en-US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월 </a:t>
            </a:r>
            <a:r>
              <a:rPr lang="en-US" altLang="ko-KR" sz="2000" dirty="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4</a:t>
            </a:r>
            <a:r>
              <a:rPr lang="ko-KR" altLang="en-US" sz="2000">
                <a:solidFill>
                  <a:srgbClr val="1F2937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주차</a:t>
            </a:r>
            <a:endParaRPr sz="2000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221106" y="4433144"/>
            <a:ext cx="617391" cy="15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altLang="ko-KR" sz="813" dirty="0">
                <a:solidFill>
                  <a:srgbClr val="9CA3AF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2026.06.30</a:t>
            </a:r>
            <a:endParaRPr sz="813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  <p:pic>
        <p:nvPicPr>
          <p:cNvPr id="112" name="Google Shape;112;p1" descr="폰트, 그래픽, 로고, 스크린샷이(가) 표시된 사진&#10;&#10;AI 생성 콘텐츠는 정확하지 않을 수 있습니다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58388" y="6477607"/>
            <a:ext cx="905006" cy="226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3694" y="273022"/>
            <a:ext cx="632774" cy="220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oogle Shape;89;p1">
            <a:extLst>
              <a:ext uri="{FF2B5EF4-FFF2-40B4-BE49-F238E27FC236}">
                <a16:creationId xmlns:a16="http://schemas.microsoft.com/office/drawing/2014/main" id="{877A21F4-8ED6-7C9D-88D4-1D74828B09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5354823"/>
              </p:ext>
            </p:extLst>
          </p:nvPr>
        </p:nvGraphicFramePr>
        <p:xfrm>
          <a:off x="3275183" y="1057224"/>
          <a:ext cx="7970591" cy="514723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32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677">
                  <a:extLst>
                    <a:ext uri="{9D8B030D-6E8A-4147-A177-3AD203B41FA5}">
                      <a16:colId xmlns:a16="http://schemas.microsoft.com/office/drawing/2014/main" val="255133657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853923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72341965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639871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262835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6913614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7840501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35534550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391007164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155164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67319114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849736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330025981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425433861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758030196"/>
                    </a:ext>
                  </a:extLst>
                </a:gridCol>
              </a:tblGrid>
              <a:tr h="3585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단계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sz="900" b="1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Task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900" b="1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endParaRPr lang="ko-KR" altLang="en-US"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900" b="1" i="0" u="none" strike="noStrike" cap="none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9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6800" marB="468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00"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주요 마일스톤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</a:t>
                      </a:r>
                      <a:endParaRPr lang="en-US" altLang="ko-KR"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7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월 </a:t>
                      </a:r>
                      <a:r>
                        <a:rPr kumimoji="0" lang="en-US" altLang="ko-KR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kumimoji="0" lang="ko-KR" altLang="en-US" sz="7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주차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462952"/>
                  </a:ext>
                </a:extLst>
              </a:tr>
              <a:tr h="280725">
                <a:tc gridSpan="2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7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9W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10W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11W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12W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13W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14W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15W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16W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17W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700" b="1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Malgun Gothic"/>
                          <a:sym typeface="Malgun Gothic"/>
                        </a:rPr>
                        <a:t>18W</a:t>
                      </a:r>
                      <a:endParaRPr sz="7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49395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요구사항 분석 및 확정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2151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답변 유형별 모듈 설계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22583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및 기타 설계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57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기획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 시나리오 작성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851531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챗봇 컴포넌트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/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모듈 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506698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디자인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시안 확정 및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에셋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 산출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947184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퍼블리싱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화면 퍼블리싱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717225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개발 환경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셋업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66829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CI/CD 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고도화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baseline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분석 및 설계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챗봇 코어 개발</a:t>
                      </a:r>
                      <a:endParaRPr lang="en-US" altLang="ko-KR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968852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개발</a:t>
                      </a:r>
                      <a:endParaRPr lang="ko-KR" altLang="en-US" sz="900" b="0" i="0" u="none" strike="noStrike" cap="none" noProof="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Malgun Gothic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챗봇 </a:t>
                      </a:r>
                      <a:r>
                        <a:rPr lang="ko-KR" altLang="en-US" sz="9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어드민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 개발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31720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테스트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시나리오 전수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성능</a:t>
                      </a:r>
                      <a:r>
                        <a:rPr lang="en-US" altLang="ko-KR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·</a:t>
                      </a:r>
                      <a:r>
                        <a:rPr lang="ko-KR" altLang="en-US" sz="900" b="0" i="0" u="none" strike="noStrike" cap="none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Arial"/>
                        </a:rPr>
                        <a:t>보안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915906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오픈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fontAlgn="ctr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통합 오픈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482473"/>
                  </a:ext>
                </a:extLst>
              </a:tr>
              <a:tr h="280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noProof="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Arial"/>
                          <a:sym typeface="Malgun Gothic"/>
                        </a:rPr>
                        <a:t>안정화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안정화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모니터링</a:t>
                      </a:r>
                      <a:r>
                        <a:rPr lang="en-US" altLang="ko-KR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9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운영 이관</a:t>
                      </a:r>
                      <a:endParaRPr lang="ko-KR" altLang="en-US" sz="900" b="0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Arial"/>
                        <a:sym typeface="Arial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endParaRPr sz="900" b="1" i="0" u="none" strike="noStrike" cap="none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Malgun Gothic"/>
                        <a:sym typeface="Malgun Gothic"/>
                      </a:endParaRPr>
                    </a:p>
                  </a:txBody>
                  <a:tcPr marL="90000" marR="90000" marT="46800" marB="468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261628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53A7BB3E-6D5D-A997-2D46-DE134D611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전체 일정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5738317" y="782846"/>
            <a:ext cx="642788" cy="5423482"/>
            <a:chOff x="2955119" y="879241"/>
            <a:chExt cx="642788" cy="6031320"/>
          </a:xfrm>
        </p:grpSpPr>
        <p:cxnSp>
          <p:nvCxnSpPr>
            <p:cNvPr id="8" name="직선 연결선 7"/>
            <p:cNvCxnSpPr>
              <a:cxnSpLocks/>
              <a:stCxn id="9" idx="2"/>
            </p:cNvCxnSpPr>
            <p:nvPr/>
          </p:nvCxnSpPr>
          <p:spPr>
            <a:xfrm>
              <a:off x="3276513" y="1090288"/>
              <a:ext cx="0" cy="5820273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모서리가 둥근 직사각형 8"/>
            <p:cNvSpPr/>
            <p:nvPr/>
          </p:nvSpPr>
          <p:spPr>
            <a:xfrm>
              <a:off x="2955119" y="879241"/>
              <a:ext cx="642788" cy="211047"/>
            </a:xfrm>
            <a:prstGeom prst="roundRect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latin typeface="맑은 고딕" panose="020B0600000101010101" pitchFamily="34" charset="-127"/>
                  <a:ea typeface="맑은 고딕" panose="020B0600000101010101" pitchFamily="34" charset="-127"/>
                </a:rPr>
                <a:t>진척률</a:t>
              </a:r>
              <a:endParaRPr lang="ko-KR" altLang="en-US" sz="1000" b="1" dirty="0">
                <a:latin typeface="맑은 고딕" panose="020B0600000101010101" pitchFamily="34" charset="-127"/>
                <a:ea typeface="맑은 고딕" panose="020B0600000101010101" pitchFamily="34" charset="-127"/>
              </a:endParaRPr>
            </a:p>
          </p:txBody>
        </p:sp>
      </p:grp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423188"/>
              </p:ext>
            </p:extLst>
          </p:nvPr>
        </p:nvGraphicFramePr>
        <p:xfrm>
          <a:off x="567817" y="840826"/>
          <a:ext cx="1962306" cy="487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9811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금주 실적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 누적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4.8%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6.9%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9122399" y="701040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</a:t>
            </a:r>
            <a:r>
              <a:rPr lang="en-US" altLang="ko-KR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: 2026. 06. 22 ~ 2026. 06. 26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188" y="1455090"/>
            <a:ext cx="1164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실적 기준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: 06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월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26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맑은 고딕" panose="020B0600000101010101" pitchFamily="34" charset="-127"/>
                <a:ea typeface="맑은 고딕" panose="020B0600000101010101" pitchFamily="34" charset="-127"/>
              </a:rPr>
              <a:t>일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D265A54-C770-60B5-7816-EAE1A8219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앱 AI 챗봇 고도화 </a:t>
            </a:r>
            <a:r>
              <a:rPr lang="ko-KR" altLang="en-US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프로젝트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4213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38D8-1E99-5B05-28B1-931DACBF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E3F7D0-8AF7-E33E-642C-687568694A50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DEEA251-5F3A-A662-23DA-35535657D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2. </a:t>
            </a:r>
            <a:r>
              <a:rPr lang="ko-KR" altLang="en-US" dirty="0"/>
              <a:t>주간 진척 현황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FAC721D1-A872-47EB-4126-B22FA3F8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앱 AI 챗봇 고도화 </a:t>
            </a:r>
            <a:r>
              <a:rPr lang="ko-KR" altLang="en-US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프로젝트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2A38DB-5A6D-A52A-00BE-8399DE4E268F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3EA086C-1E69-B92E-B599-E5767120B7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157508"/>
              </p:ext>
            </p:extLst>
          </p:nvPr>
        </p:nvGraphicFramePr>
        <p:xfrm>
          <a:off x="696181" y="1239315"/>
          <a:ext cx="10753694" cy="109279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3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7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13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5.2%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4.8%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7.3%</a:t>
                      </a:r>
                      <a:endParaRPr lang="ko-KR" altLang="en-US" sz="13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6.9%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4.9%</a:t>
                      </a:r>
                      <a:endParaRPr lang="ko-KR" altLang="en-US" sz="1300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11.8%</a:t>
                      </a:r>
                      <a:endParaRPr lang="ko-KR" altLang="en-US" sz="1300" b="1" kern="1200" dirty="0">
                        <a:solidFill>
                          <a:schemeClr val="tx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CB0A1AA-7AEE-7702-391E-EDA93D23081A}"/>
              </a:ext>
            </a:extLst>
          </p:cNvPr>
          <p:cNvSpPr txBox="1"/>
          <p:nvPr/>
        </p:nvSpPr>
        <p:spPr>
          <a:xfrm>
            <a:off x="9333278" y="947722"/>
            <a:ext cx="2191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</a:t>
            </a:r>
            <a:r>
              <a:rPr lang="en-US" altLang="ko-KR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: 2026. 06. 22 ~ 2026. 06. 26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093B36-1E59-7B19-99FD-D72ACD443056}"/>
              </a:ext>
            </a:extLst>
          </p:cNvPr>
          <p:cNvSpPr txBox="1"/>
          <p:nvPr/>
        </p:nvSpPr>
        <p:spPr>
          <a:xfrm>
            <a:off x="612251" y="2469809"/>
            <a:ext cx="12186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>
                <a:latin typeface="맑은 고딕" panose="020B0600000101010101" pitchFamily="34" charset="-127"/>
                <a:ea typeface="맑은 고딕" panose="020B0600000101010101" pitchFamily="34" charset="-127"/>
              </a:defRPr>
            </a:lvl1pPr>
          </a:lstStyle>
          <a:p>
            <a:r>
              <a:rPr lang="ko-KR" altLang="en-US" dirty="0"/>
              <a:t>나</a:t>
            </a:r>
            <a:r>
              <a:rPr lang="en-US" altLang="ko-KR" dirty="0"/>
              <a:t>. </a:t>
            </a:r>
            <a:r>
              <a:rPr lang="ko-KR" altLang="en-US" dirty="0"/>
              <a:t>업무별 </a:t>
            </a:r>
            <a:r>
              <a:rPr lang="ko-KR" altLang="en-US" dirty="0" err="1"/>
              <a:t>진척률</a:t>
            </a:r>
            <a:endParaRPr lang="ko-KR" altLang="en-US" dirty="0"/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33892AC-2291-B9E5-F24E-FB646BFB4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20329"/>
              </p:ext>
            </p:extLst>
          </p:nvPr>
        </p:nvGraphicFramePr>
        <p:xfrm>
          <a:off x="696181" y="2845969"/>
          <a:ext cx="10753694" cy="23432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36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6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571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금주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차주 계획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8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6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3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2.8%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3.3%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6.5%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7.0%</a:t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12.0%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19.0</a:t>
                      </a:r>
                      <a:r>
                        <a:rPr lang="ko-KR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19.4%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17.6%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22.3%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20.5%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8.5%</a:t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29.0%</a:t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  <a:endParaRPr lang="ko-KR" alt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D79B043-713D-60B3-2B4D-D212338E7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851303"/>
              </p:ext>
            </p:extLst>
          </p:nvPr>
        </p:nvGraphicFramePr>
        <p:xfrm>
          <a:off x="696181" y="5443799"/>
          <a:ext cx="10753694" cy="8268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1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4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지연 사유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BOS </a:t>
                      </a:r>
                      <a:r>
                        <a:rPr lang="ko-KR" altLang="en-US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요구사항 수집 지연으로 인한 개발 일부 항목 지연</a:t>
                      </a:r>
                      <a:endParaRPr lang="en-US" altLang="ko-KR" sz="105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7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 err="1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캐치업</a:t>
                      </a:r>
                      <a:r>
                        <a:rPr lang="ko-KR" altLang="en-US" sz="105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BOS</a:t>
                      </a:r>
                      <a:r>
                        <a:rPr lang="ko-KR" altLang="en-US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요구사항 초안 및 전달 문서로 개발 내부 사전 검토 및 구성 설계 진행</a:t>
                      </a:r>
                      <a:r>
                        <a:rPr lang="en-US" altLang="ko-KR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, BOS </a:t>
                      </a:r>
                      <a:r>
                        <a:rPr lang="ko-KR" altLang="en-US" sz="105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요구사항 확정 필요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400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2FCC3-2E72-1936-F7C1-2379D939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BC42664-DA5F-DF1A-15FF-49FA759B5349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184B10D-A9F2-DA03-6CF1-53635B3F2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2A076FB2-5797-55E3-EE03-7DC9673F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앱 AI 챗봇 고도화 </a:t>
            </a:r>
            <a:r>
              <a:rPr lang="ko-KR" altLang="en-US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449942-0687-C397-013B-8EEB25CF29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90447"/>
              </p:ext>
            </p:extLst>
          </p:nvPr>
        </p:nvGraphicFramePr>
        <p:xfrm>
          <a:off x="672327" y="823033"/>
          <a:ext cx="10777550" cy="48832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 진행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(6/22~6/26)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업무 계획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(6/29~7/3)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</a:t>
                      </a:r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관리</a:t>
                      </a:r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]</a:t>
                      </a:r>
                    </a:p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WBS </a:t>
                      </a: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현행화 및 수정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VPN </a:t>
                      </a: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추가 연동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endParaRPr lang="ko-KR" altLang="en-US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endParaRPr lang="ko-KR" altLang="en-US" sz="1100" b="1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</a:t>
                      </a:r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회의</a:t>
                      </a:r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]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Daily </a:t>
                      </a: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Scrum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 (6/22~6/26)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주간보고 </a:t>
                      </a: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(6/23)</a:t>
                      </a:r>
                      <a:endParaRPr lang="ko-KR" altLang="en-US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이슈 관리 대장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주간보고서</a:t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[관리]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BOS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요구사항 확정 대기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인텐트별 시나리오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(Flow Chart)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전달 대기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0" algn="l" defTabSz="914400" rtl="0" eaLnBrk="1" latinLnBrk="1" hangingPunct="1"/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[회의]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Daily Scrum (6/29~7/3)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주간보고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(6/30)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요구사항 정의서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이슈 관리 대장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주간보고서</a:t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 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분석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/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설계</a:t>
                      </a: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dirty="0">
                          <a:effectLst/>
                        </a:rPr>
                        <a:t>[</a:t>
                      </a:r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작업]</a:t>
                      </a:r>
                      <a:endParaRPr lang="en-US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컴포넌트 가이드 초안 작성 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공통 화면(최초 진입 화면) 와이어프레임 초안 구성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샘플 인텐트별 시나리오 검토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[작업]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컴포넌트 가이드 보완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공통 화면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최초 진입 화면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설계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시나리오 프로세스 와이어프레임 구성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인텐트별 시나리오 방어설계 검토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및 피드백 전달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BOS IA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 초안 작성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BOS IA</a:t>
                      </a:r>
                    </a:p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시나리오별 플로우 설계</a:t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-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7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FF50D-A5A8-6C52-8BC2-76BCB4BF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D43132D-D254-5CD0-DFC4-C4AC63CC7D46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CC262E9-34C4-0C7E-CC44-22C9832EC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3. </a:t>
            </a:r>
            <a:r>
              <a:rPr lang="ko-KR" altLang="en-US" dirty="0"/>
              <a:t>주간 실적 및 차주 계획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B4F5CA73-BB90-425B-1983-0F3FB8AE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앱 AI 챗봇 고도화 </a:t>
            </a:r>
            <a:r>
              <a:rPr lang="ko-KR" altLang="en-US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F5A75FE-BB2B-9143-24D9-1BEB21546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927978"/>
              </p:ext>
            </p:extLst>
          </p:nvPr>
        </p:nvGraphicFramePr>
        <p:xfrm>
          <a:off x="672327" y="823033"/>
          <a:ext cx="10777550" cy="243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02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3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0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32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W2 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 진행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(6/22~6/26)</a:t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W3</a:t>
                      </a:r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 업무 계획</a:t>
                      </a:r>
                      <a:b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</a:br>
                      <a:r>
                        <a:rPr lang="en-US" altLang="ko-KR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(6/29~7/3)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관련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</a:t>
                      </a:r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개발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]</a:t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AS-IS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인터페이스 정의서 수급 및 분석 진행 중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(DB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스키마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/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챗봇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·BOS)</a:t>
                      </a: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AI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연동 인터페이스 수급 및 분석 진행 중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</a:t>
                      </a:r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CI/CD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]</a:t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Prerequisite Networking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설정</a:t>
                      </a: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 CE (Omnibus)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및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 Runner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설치</a:t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 설치 가이드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 관리자 운영 매뉴얼</a:t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</a:t>
                      </a:r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개발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]</a:t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챗봇 코어 및 </a:t>
                      </a: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어드민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(BOS) API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설계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DB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및 아키텍처 설계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[</a:t>
                      </a:r>
                      <a:r>
                        <a:rPr lang="ko-KR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CI/CD</a:t>
                      </a:r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]</a:t>
                      </a:r>
                      <a:endParaRPr lang="ko-KR" altLang="ko-KR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GitLab-Flow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및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Branch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전략 규칙정의 및 확산</a:t>
                      </a: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GitLab-Flow 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배포 검증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(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개발 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71</a:t>
                      </a: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번 서버</a:t>
                      </a: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)</a:t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 설치 가이드</a:t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GitLab</a:t>
                      </a:r>
                      <a:r>
                        <a:rPr lang="ko-KR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 관리자 운영 매뉴얼</a:t>
                      </a:r>
                      <a:endParaRPr lang="ko-KR" altLang="en-US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658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76137-FA2A-D9AF-839B-6255FB65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EEB5DCB-A903-AD60-CFBF-7931D7AB3C63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ADDAE058-599B-AE8B-B2C8-893034672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4. </a:t>
            </a:r>
            <a:r>
              <a:rPr lang="ko-KR" altLang="en-US" dirty="0"/>
              <a:t>주간 주요 이슈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D045D16F-5DBB-BAC0-274F-FA00EB505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앱 AI 챗봇 고도화 </a:t>
            </a:r>
            <a:r>
              <a:rPr lang="ko-KR" altLang="en-US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프로젝트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701F8B0-CA50-7D21-37EC-C0D433858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448259"/>
              </p:ext>
            </p:extLst>
          </p:nvPr>
        </p:nvGraphicFramePr>
        <p:xfrm>
          <a:off x="672327" y="823033"/>
          <a:ext cx="10605273" cy="452451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03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2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8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요청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[</a:t>
                      </a:r>
                      <a:r>
                        <a:rPr lang="ko-KR" altLang="en-US" sz="1100" b="0" dirty="0" err="1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〇〇</a:t>
                      </a: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]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BOS </a:t>
                      </a: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요구사항 확정 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인텐트별 플로우 차트 순차적 전달 요청</a:t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챗봇 </a:t>
                      </a: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Agent-UI API </a:t>
                      </a: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서버 방화벽 오픈 요청</a:t>
                      </a: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554A-301A-E0C6-8532-36969ED1C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CCE084B-5748-4587-02D0-C7962ABC9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41E4EC-02A6-A4D3-9DD9-54E8B8AB9606}"/>
              </a:ext>
            </a:extLst>
          </p:cNvPr>
          <p:cNvSpPr txBox="1"/>
          <p:nvPr/>
        </p:nvSpPr>
        <p:spPr>
          <a:xfrm>
            <a:off x="9258249" y="947722"/>
            <a:ext cx="2191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D4904CA-9916-F5A1-2F5A-7742E6D5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/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89DF635-9C63-CECA-AA37-027AC9442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25885"/>
              </p:ext>
            </p:extLst>
          </p:nvPr>
        </p:nvGraphicFramePr>
        <p:xfrm>
          <a:off x="696180" y="1226387"/>
          <a:ext cx="10672858" cy="493057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24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6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37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당월 </a:t>
                      </a:r>
                      <a:r>
                        <a:rPr lang="ko-KR" altLang="en-US" sz="1100" b="1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진척률</a:t>
                      </a: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〇월 계획 진척률_x000B_(7/24 기준)</a:t>
                      </a:r>
                      <a:br>
                        <a:rPr lang="en-US" altLang="ko-KR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</a:br>
                      <a:endParaRPr lang="ko-KR" altLang="en-US" sz="11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07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당월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1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084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실적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계획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누적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전체</a:t>
                      </a:r>
                      <a:endParaRPr lang="en-US" altLang="ko-KR" sz="1300" b="1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1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1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705794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3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rgbClr val="0036E2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18913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rgbClr val="0036E2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2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검증</a:t>
                      </a: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·</a:t>
                      </a:r>
                      <a:r>
                        <a:rPr lang="ko-KR" altLang="en-US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릴리즈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solidFill>
                            <a:schemeClr val="tx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30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30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6712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14A2B3-91D7-17A2-403D-7CF2A20176E9}"/>
              </a:ext>
            </a:extLst>
          </p:cNvPr>
          <p:cNvSpPr txBox="1"/>
          <p:nvPr/>
        </p:nvSpPr>
        <p:spPr>
          <a:xfrm>
            <a:off x="612251" y="79383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</a:t>
            </a:r>
            <a:r>
              <a:rPr lang="ko-KR" altLang="en-US" sz="1400" dirty="0" err="1">
                <a:latin typeface="맑은 고딕" panose="020B0600000101010101" pitchFamily="34" charset="-127"/>
                <a:ea typeface="맑은 고딕" panose="020B0600000101010101" pitchFamily="34" charset="-127"/>
              </a:rPr>
              <a:t>진척률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0960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CE66-855D-4180-6051-DBEBCB7D7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8D18DEE-7D31-C91B-1890-403E90AF6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09316"/>
              </p:ext>
            </p:extLst>
          </p:nvPr>
        </p:nvGraphicFramePr>
        <p:xfrm>
          <a:off x="672327" y="1180886"/>
          <a:ext cx="10777870" cy="497195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〇월 주요 성과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100" b="0" kern="1200" dirty="0" err="1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99617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CA87147A-6A58-D16A-78D3-E74CB0089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3829497-0A43-43A7-E3EB-940E4F05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/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B8783-ADA7-D956-5377-468925FBB988}"/>
              </a:ext>
            </a:extLst>
          </p:cNvPr>
          <p:cNvSpPr txBox="1"/>
          <p:nvPr/>
        </p:nvSpPr>
        <p:spPr>
          <a:xfrm>
            <a:off x="612251" y="79383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나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주요 성과</a:t>
            </a:r>
          </a:p>
        </p:txBody>
      </p:sp>
    </p:spTree>
    <p:extLst>
      <p:ext uri="{BB962C8B-B14F-4D97-AF65-F5344CB8AC3E}">
        <p14:creationId xmlns:p14="http://schemas.microsoft.com/office/powerpoint/2010/main" val="412344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5547-BEB3-FC30-DCE5-00867F48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2355C96-A58A-EB47-C149-05D13E85E5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5960"/>
              </p:ext>
            </p:extLst>
          </p:nvPr>
        </p:nvGraphicFramePr>
        <p:xfrm>
          <a:off x="672325" y="1180886"/>
          <a:ext cx="10704334" cy="465071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68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7575">
                  <a:extLst>
                    <a:ext uri="{9D8B030D-6E8A-4147-A177-3AD203B41FA5}">
                      <a16:colId xmlns:a16="http://schemas.microsoft.com/office/drawing/2014/main" val="1613819038"/>
                    </a:ext>
                  </a:extLst>
                </a:gridCol>
                <a:gridCol w="400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이슈 및 리스크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영향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진행상황 및 대응방안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buFont typeface="Arial" panose="020B0604020202020204" pitchFamily="34" charset="0"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270376"/>
                  </a:ext>
                </a:extLst>
              </a:tr>
            </a:tbl>
          </a:graphicData>
        </a:graphic>
      </p:graphicFrame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82FD209-AE76-A5BD-56C4-AD989D310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C0C8BD44-E4D1-B51A-D538-1EAECA2E6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/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F7C38E-E4A5-B200-0182-CF332FE31531}"/>
              </a:ext>
            </a:extLst>
          </p:cNvPr>
          <p:cNvSpPr txBox="1"/>
          <p:nvPr/>
        </p:nvSpPr>
        <p:spPr>
          <a:xfrm>
            <a:off x="612251" y="793834"/>
            <a:ext cx="1433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다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및 리스크</a:t>
            </a:r>
          </a:p>
        </p:txBody>
      </p:sp>
    </p:spTree>
    <p:extLst>
      <p:ext uri="{BB962C8B-B14F-4D97-AF65-F5344CB8AC3E}">
        <p14:creationId xmlns:p14="http://schemas.microsoft.com/office/powerpoint/2010/main" val="733650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F6F4-2D60-763D-F854-8D01D083F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8EBDB867-C9B0-A720-4CCF-45E60E03E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5. 〇월 진척 상황 보고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D0D8FE-4C3A-9FAB-3708-3D1133A90ED9}"/>
              </a:ext>
            </a:extLst>
          </p:cNvPr>
          <p:cNvSpPr txBox="1"/>
          <p:nvPr/>
        </p:nvSpPr>
        <p:spPr>
          <a:xfrm>
            <a:off x="9298324" y="879639"/>
            <a:ext cx="21515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1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기간 : </a:t>
            </a:r>
            <a:endParaRPr lang="ko-KR" altLang="en-US" sz="11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61D651AA-583E-4C34-6A03-FC1F2ECB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839" y="252671"/>
            <a:ext cx="1736053" cy="110800"/>
          </a:xfrm>
        </p:spPr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/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27AC8-49BC-26C3-9EF4-8CD55B7230BF}"/>
              </a:ext>
            </a:extLst>
          </p:cNvPr>
          <p:cNvSpPr txBox="1"/>
          <p:nvPr/>
        </p:nvSpPr>
        <p:spPr>
          <a:xfrm>
            <a:off x="612251" y="79383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라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익월 목표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9DE46CD-799B-6233-824C-3FFDBCE7F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11883"/>
              </p:ext>
            </p:extLst>
          </p:nvPr>
        </p:nvGraphicFramePr>
        <p:xfrm>
          <a:off x="672327" y="1180886"/>
          <a:ext cx="10777870" cy="475660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4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19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업무구분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〇월 주요 목표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비고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6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프로젝트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  <a:endParaRPr lang="en-US" altLang="ko-KR" sz="1100" b="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ko-KR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기획</a:t>
                      </a:r>
                      <a:endParaRPr lang="en-US" altLang="ko-KR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디자인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159038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퍼블리싱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/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40845"/>
                  </a:ext>
                </a:extLst>
              </a:tr>
              <a:tr h="86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맑은 고딕" panose="020B0600000101010101" pitchFamily="34" charset="-127"/>
                          <a:ea typeface="맑은 고딕" panose="020B0600000101010101" pitchFamily="34" charset="-127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dk1"/>
                          </a:solidFill>
                          <a:latin typeface="맑은 고딕" panose="020B0600000101010101" pitchFamily="34" charset="-127"/>
                          <a:ea typeface="맑은 고딕" panose="020B0600000101010101" pitchFamily="34" charset="-127"/>
                          <a:cs typeface="+mn-cs"/>
                        </a:rPr>
                        <a:t/>
                      </a:r>
                      <a:endParaRPr lang="en-US" altLang="ko-KR" sz="1100" b="0" kern="1200" dirty="0">
                        <a:solidFill>
                          <a:schemeClr val="dk1"/>
                        </a:solidFill>
                        <a:latin typeface="맑은 고딕" panose="020B0600000101010101" pitchFamily="34" charset="-127"/>
                        <a:ea typeface="맑은 고딕" panose="020B0600000101010101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100" dirty="0">
                        <a:latin typeface="맑은 고딕" panose="020B0600000101010101" pitchFamily="34" charset="-127"/>
                        <a:ea typeface="맑은 고딕" panose="020B0600000101010101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99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8605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D1D68-D26A-4CEF-6900-56DFA98F1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A64F872-6820-106D-23B2-C07184C353C1}"/>
              </a:ext>
            </a:extLst>
          </p:cNvPr>
          <p:cNvSpPr txBox="1"/>
          <p:nvPr/>
        </p:nvSpPr>
        <p:spPr>
          <a:xfrm>
            <a:off x="381663" y="413468"/>
            <a:ext cx="1024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1.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전체 일정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CF1D92DC-0D33-307D-0B7C-B50385677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 rIns="0"/>
          <a:lstStyle/>
          <a:p>
            <a:r>
              <a:rPr lang="en-US" altLang="ko-KR" dirty="0"/>
              <a:t>#Appendix</a:t>
            </a:r>
            <a:endParaRPr lang="ko-KR" altLang="en-US" dirty="0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82F8CB75-733F-48B4-C5BA-DEC2E897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lang="ko-KR" altLang="ko-KR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〇〇 앱 AI 챗봇 고도화 </a:t>
            </a:r>
            <a:r>
              <a:rPr lang="ko-KR" altLang="en-US" sz="800" b="1" dirty="0">
                <a:latin typeface="맑은 고딕" panose="020B0600000101010101" pitchFamily="34" charset="-127"/>
                <a:ea typeface="맑은 고딕" panose="020B0600000101010101" pitchFamily="34" charset="-127"/>
                <a:cs typeface="Arial"/>
                <a:sym typeface="Arial"/>
              </a:rPr>
              <a:t>프로젝트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683D5-47BC-35D1-BE61-0F30B9C803CD}"/>
              </a:ext>
            </a:extLst>
          </p:cNvPr>
          <p:cNvSpPr txBox="1"/>
          <p:nvPr/>
        </p:nvSpPr>
        <p:spPr>
          <a:xfrm>
            <a:off x="612251" y="793834"/>
            <a:ext cx="2614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가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. 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 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별도 문서 전달</a:t>
            </a:r>
            <a:r>
              <a:rPr lang="en-US" altLang="ko-KR" sz="1400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</a:t>
            </a:r>
            <a:endParaRPr lang="ko-KR" altLang="en-US" sz="1400" dirty="0">
              <a:latin typeface="맑은 고딕" panose="020B0600000101010101" pitchFamily="34" charset="-127"/>
              <a:ea typeface="맑은 고딕" panose="020B0600000101010101" pitchFamily="34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6641D4-7EFB-3F71-99CD-19A86FA5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43" y="1226387"/>
            <a:ext cx="11530914" cy="455508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528B131-68A6-C481-2C2A-204CDEAEDD9E}"/>
              </a:ext>
            </a:extLst>
          </p:cNvPr>
          <p:cNvSpPr/>
          <p:nvPr/>
        </p:nvSpPr>
        <p:spPr>
          <a:xfrm>
            <a:off x="322839" y="1166949"/>
            <a:ext cx="11538618" cy="469392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이슈 관리 대장</a:t>
            </a:r>
            <a:r>
              <a:rPr lang="en-US" altLang="ko-KR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(</a:t>
            </a:r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별첨 문서</a:t>
            </a:r>
            <a:r>
              <a:rPr lang="en-US" altLang="ko-KR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) </a:t>
            </a:r>
            <a:r>
              <a:rPr lang="ko-KR" altLang="en-US" dirty="0">
                <a:latin typeface="맑은 고딕" panose="020B0600000101010101" pitchFamily="34" charset="-127"/>
                <a:ea typeface="맑은 고딕" panose="020B0600000101010101" pitchFamily="34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3493668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 txBox="1"/>
          <p:nvPr/>
        </p:nvSpPr>
        <p:spPr>
          <a:xfrm>
            <a:off x="3795491" y="2649053"/>
            <a:ext cx="4601018" cy="155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3600" b="1" dirty="0">
                <a:solidFill>
                  <a:schemeClr val="dk1"/>
                </a:solidFill>
                <a:latin typeface="맑은 고딕" panose="020B0600000101010101" pitchFamily="34" charset="-127"/>
                <a:ea typeface="맑은 고딕" panose="020B0600000101010101" pitchFamily="34" charset="-127"/>
                <a:sym typeface="Arial"/>
              </a:rPr>
              <a:t>End of Document.</a:t>
            </a:r>
            <a:endParaRPr sz="3600" b="1" dirty="0">
              <a:solidFill>
                <a:schemeClr val="dk1"/>
              </a:solidFill>
              <a:latin typeface="맑은 고딕" panose="020B0600000101010101" pitchFamily="34" charset="-127"/>
              <a:ea typeface="맑은 고딕" panose="020B0600000101010101" pitchFamily="34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1402</Words>
  <Application>Microsoft Office PowerPoint</Application>
  <PresentationFormat>와이드스크린</PresentationFormat>
  <Paragraphs>424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Malgun Gothic</vt:lpstr>
      <vt:lpstr>Malgun Gothic</vt:lpstr>
      <vt:lpstr>맑은 고딕</vt:lpstr>
      <vt:lpstr>맑은 고딕</vt:lpstr>
      <vt:lpstr>Arial</vt:lpstr>
      <vt:lpstr>Office 테마</vt:lpstr>
      <vt:lpstr>PowerPoint 프레젠테이션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〇〇 프로젝트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〇〇</dc:creator>
  <cp:lastModifiedBy>지은 신</cp:lastModifiedBy>
  <cp:revision>195</cp:revision>
  <dcterms:created xsi:type="dcterms:W3CDTF">2025-10-30T06:09:25Z</dcterms:created>
  <dcterms:modified xsi:type="dcterms:W3CDTF">2026-06-29T08:25:11Z</dcterms:modified>
</cp:coreProperties>
</file>